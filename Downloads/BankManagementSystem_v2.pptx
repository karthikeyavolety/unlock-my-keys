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657600"/>
            <a:ext cx="2011680" cy="2011680"/>
          </a:xfrm>
          <a:prstGeom prst="ellipse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04288"/>
            <a:ext cx="12801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02920" y="245059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4505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Aim of the Project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063240"/>
            <a:ext cx="4069080" cy="566928"/>
          </a:xfrm>
          <a:prstGeom prst="rect">
            <a:avLst/>
          </a:prstGeom>
          <a:solidFill>
            <a:srgbClr val="162D4E"/>
          </a:solidFill>
          <a:ln w="12700">
            <a:solidFill>
              <a:srgbClr val="233D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306324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0632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 banking operations using C++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3063240"/>
            <a:ext cx="4069080" cy="566928"/>
          </a:xfrm>
          <a:prstGeom prst="rect">
            <a:avLst/>
          </a:prstGeom>
          <a:solidFill>
            <a:srgbClr val="162D4E"/>
          </a:solidFill>
          <a:ln w="12700">
            <a:solidFill>
              <a:srgbClr val="233D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306324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30632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PIN-based user authentication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794760"/>
            <a:ext cx="4069080" cy="566928"/>
          </a:xfrm>
          <a:prstGeom prst="rect">
            <a:avLst/>
          </a:prstGeom>
          <a:solidFill>
            <a:srgbClr val="162D4E"/>
          </a:solidFill>
          <a:ln w="12700">
            <a:solidFill>
              <a:srgbClr val="233D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379476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7947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storage via file handling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3794760"/>
            <a:ext cx="4069080" cy="566928"/>
          </a:xfrm>
          <a:prstGeom prst="rect">
            <a:avLst/>
          </a:prstGeom>
          <a:solidFill>
            <a:srgbClr val="162D4E"/>
          </a:solidFill>
          <a:ln w="12700">
            <a:solidFill>
              <a:srgbClr val="233D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46320" y="379476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37947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Console-driven interactive interface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 / 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5400000">
            <a:off x="-1874520" y="182880"/>
            <a:ext cx="5143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86868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9728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2984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280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166420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system designed to manage core banking operations digitally.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92040" y="109728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29844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80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166420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and user-friendly — no GUI dependency required.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85800" y="292608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127248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108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63040" y="349300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Deposit, Withdrawal, and Balance enquiry with validation.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92040" y="292608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127248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3108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669280" y="349300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C++ concepts: loops, conditionals, functions &amp; file I/O.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 / 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581912" cy="356616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5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58191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161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764792"/>
            <a:ext cx="1033272" cy="36576"/>
          </a:xfrm>
          <a:prstGeom prst="rect">
            <a:avLst/>
          </a:prstGeom>
          <a:solidFill>
            <a:srgbClr val="2E4A8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1399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50008"/>
            <a:ext cx="13990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a basic banking environment inside a C++ console app.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1051560"/>
            <a:ext cx="1581912" cy="356616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5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76272" y="1051560"/>
            <a:ext cx="158191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2161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450592" y="1764792"/>
            <a:ext cx="1033272" cy="36576"/>
          </a:xfrm>
          <a:prstGeom prst="rect">
            <a:avLst/>
          </a:prstGeom>
          <a:solidFill>
            <a:srgbClr val="2E4A8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1874520"/>
            <a:ext cx="1399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67712" y="2350008"/>
            <a:ext cx="13990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deposit, withdrawal &amp; balance-check with full validation.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95344" y="1051560"/>
            <a:ext cx="1581912" cy="356616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5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95344" y="1051560"/>
            <a:ext cx="158191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12161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169664" y="1764792"/>
            <a:ext cx="1033272" cy="36576"/>
          </a:xfrm>
          <a:prstGeom prst="rect">
            <a:avLst/>
          </a:prstGeom>
          <a:solidFill>
            <a:srgbClr val="2E4A8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6784" y="1874520"/>
            <a:ext cx="1399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86784" y="2350008"/>
            <a:ext cx="13990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authentication ensures only authorised users gain access.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14416" y="1051560"/>
            <a:ext cx="1581912" cy="356616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5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14416" y="1051560"/>
            <a:ext cx="158191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14416" y="12161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04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5888736" y="1764792"/>
            <a:ext cx="1033272" cy="36576"/>
          </a:xfrm>
          <a:prstGeom prst="rect">
            <a:avLst/>
          </a:prstGeom>
          <a:solidFill>
            <a:srgbClr val="2E4A8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05856" y="1874520"/>
            <a:ext cx="1399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05856" y="2350008"/>
            <a:ext cx="13990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stores balance data so it survives between sessions.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33488" y="1051560"/>
            <a:ext cx="1581912" cy="356616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5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33488" y="1051560"/>
            <a:ext cx="158191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33488" y="12161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05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607808" y="1764792"/>
            <a:ext cx="1033272" cy="36576"/>
          </a:xfrm>
          <a:prstGeom prst="rect">
            <a:avLst/>
          </a:prstGeom>
          <a:solidFill>
            <a:srgbClr val="2E4A8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24928" y="1874520"/>
            <a:ext cx="1399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24928" y="2350008"/>
            <a:ext cx="13990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classroom C++ concepts with real-world banking workflows.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 / 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💻   SOFTWARE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99339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Compiler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2677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Turbo C++ / Code::Blocks / VS 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81635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0906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Windows 10/11 or Linux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63931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661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Editor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913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Any text editor with syntax highlight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1430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143000"/>
            <a:ext cx="3931920" cy="5486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43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🖥️   HARDWARE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74920" y="1993392"/>
            <a:ext cx="256032" cy="25603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920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RAM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22677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Minimum 4 GB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2816352"/>
            <a:ext cx="256032" cy="25603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743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Processor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0906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Intel i3 or equivalent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3639312"/>
            <a:ext cx="256032" cy="25603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566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System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913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Basic PC / Laptop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 / 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1298448" cy="2286000"/>
          </a:xfrm>
          <a:prstGeom prst="rect">
            <a:avLst/>
          </a:prstGeom>
          <a:solidFill>
            <a:srgbClr val="0F2440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28016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User Login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Enter PIN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36776" y="1554480"/>
            <a:ext cx="91440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6504" y="1097280"/>
            <a:ext cx="1298448" cy="2286000"/>
          </a:xfrm>
          <a:prstGeom prst="rect">
            <a:avLst/>
          </a:prstGeom>
          <a:solidFill>
            <a:srgbClr val="0F2440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75688" y="1280160"/>
            <a:ext cx="640080" cy="64008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92224" y="205740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A0"/>
                </a:solidFill>
              </a:rPr>
              <a:t>Menu Loads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92224" y="246888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Choose op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63240" y="1554480"/>
            <a:ext cx="91440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1097280"/>
            <a:ext cx="1298448" cy="2286000"/>
          </a:xfrm>
          <a:prstGeom prst="rect">
            <a:avLst/>
          </a:prstGeom>
          <a:solidFill>
            <a:srgbClr val="0F2440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02152" y="12801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18688" y="205740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Select Op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18688" y="246888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Deposit / Withdraw / Balance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9704" y="1554480"/>
            <a:ext cx="91440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9432" y="1097280"/>
            <a:ext cx="1298448" cy="2286000"/>
          </a:xfrm>
          <a:prstGeom prst="rect">
            <a:avLst/>
          </a:prstGeom>
          <a:solidFill>
            <a:srgbClr val="0F2440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28616" y="128016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45152" y="205740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Validate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45152" y="246888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System checks input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16168" y="1554480"/>
            <a:ext cx="91440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25896" y="1097280"/>
            <a:ext cx="1298448" cy="2286000"/>
          </a:xfrm>
          <a:prstGeom prst="rect">
            <a:avLst/>
          </a:prstGeom>
          <a:solidFill>
            <a:srgbClr val="0F2440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1280160"/>
            <a:ext cx="640080" cy="64008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71616" y="205740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A0"/>
                </a:solidFill>
              </a:rPr>
              <a:t>File Write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71616" y="246888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 stored to disk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42632" y="1554480"/>
            <a:ext cx="91440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1097280"/>
            <a:ext cx="1298448" cy="2286000"/>
          </a:xfrm>
          <a:prstGeom prst="rect">
            <a:avLst/>
          </a:prstGeom>
          <a:solidFill>
            <a:srgbClr val="0F2440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81544" y="12801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81544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205740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Show Result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0" y="246888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Output on screen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3657600"/>
            <a:ext cx="8503920" cy="1234440"/>
          </a:xfrm>
          <a:prstGeom prst="rect">
            <a:avLst/>
          </a:prstGeom>
          <a:solidFill>
            <a:srgbClr val="0A1E38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657600"/>
            <a:ext cx="64008" cy="12344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</a:rPr>
              <a:t>How it works: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4059936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first authenticates the user via PIN. On success, a menu-driven interface presents available operations. Each selection is validated, executed, and the resulting balance is persisted using file I/O — ensuring data survives across sessions.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 / 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Flowchart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51560"/>
            <a:ext cx="1645920" cy="402336"/>
          </a:xfrm>
          <a:prstGeom prst="roundRect">
            <a:avLst>
              <a:gd name="adj" fmla="val 34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5156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00784" y="1453896"/>
            <a:ext cx="7315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09928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7099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Enter PIN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00784" y="2112264"/>
            <a:ext cx="7315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368296"/>
            <a:ext cx="16459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36829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Valid PIN?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00784" y="2770632"/>
            <a:ext cx="7315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026664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0266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Display Menu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00784" y="3429000"/>
            <a:ext cx="7315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685032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6850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Select 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2532888"/>
            <a:ext cx="73152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368296"/>
            <a:ext cx="1371600" cy="402336"/>
          </a:xfrm>
          <a:prstGeom prst="roundRect">
            <a:avLst>
              <a:gd name="adj" fmla="val 2727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3682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EXIT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23957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27980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YES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05156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51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Deposit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8745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1874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🏧  Withdraw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69748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697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Balance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0" y="105156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32320" y="10515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Update File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64424" y="1645920"/>
            <a:ext cx="7315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1901952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32320" y="19019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Show Result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64424" y="2496312"/>
            <a:ext cx="7315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2752344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32320" y="275234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 / 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C++ Code  —  Bank Management System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" y="658368"/>
            <a:ext cx="14173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6583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8600" y="950976"/>
            <a:ext cx="8686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87552"/>
            <a:ext cx="8686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987552"/>
            <a:ext cx="475488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1024128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9808" y="1024128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246888" y="1177747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49808" y="1177747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&lt;fstream&gt;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246888" y="1331366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49808" y="1331366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std;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246888" y="1484986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46888" y="1638605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49808" y="1638605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88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246888" y="1792224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49808" y="1792224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enteredPin;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46888" y="1945843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9808" y="1945843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amount;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246888" y="2099462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49808" y="2099462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choice;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246888" y="2253082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49808" y="2253082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PIN: "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246888" y="2406701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49808" y="2406701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enteredPin;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246888" y="2560320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49808" y="2560320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(enteredPin != pin) {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246888" y="2713939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9808" y="2713939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 PIN!"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246888" y="2867558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" y="2867558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"1.Deposit 2.Withdraw 3.Balance\n"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246888" y="3021178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49808" y="3021178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choice;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246888" y="3174797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49808" y="3174797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(choice) {</a:t>
            </a:r>
            <a:endParaRPr lang="en-US" sz="880" dirty="0"/>
          </a:p>
        </p:txBody>
      </p:sp>
      <p:sp>
        <p:nvSpPr>
          <p:cNvPr id="39" name="Text 36"/>
          <p:cNvSpPr/>
          <p:nvPr/>
        </p:nvSpPr>
        <p:spPr>
          <a:xfrm>
            <a:off x="246888" y="3328416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49808" y="3328416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cout&lt;&lt;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amount: "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cin&gt;&gt;amount; balance+=amount;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endParaRPr lang="en-US" sz="880" dirty="0"/>
          </a:p>
        </p:txBody>
      </p:sp>
      <p:sp>
        <p:nvSpPr>
          <p:cNvPr id="41" name="Text 38"/>
          <p:cNvSpPr/>
          <p:nvPr/>
        </p:nvSpPr>
        <p:spPr>
          <a:xfrm>
            <a:off x="246888" y="3482035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9808" y="3482035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cout&lt;&lt;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amount: "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cin&gt;&gt;amount;</a:t>
            </a:r>
            <a:endParaRPr lang="en-US" sz="880" dirty="0"/>
          </a:p>
        </p:txBody>
      </p:sp>
      <p:sp>
        <p:nvSpPr>
          <p:cNvPr id="43" name="Text 40"/>
          <p:cNvSpPr/>
          <p:nvPr/>
        </p:nvSpPr>
        <p:spPr>
          <a:xfrm>
            <a:off x="246888" y="3635654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49808" y="3635654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(amount&lt;=balance) balance-=amount;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cout&lt;&lt;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"Insufficient balance";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endParaRPr lang="en-US" sz="880" dirty="0"/>
          </a:p>
        </p:txBody>
      </p:sp>
      <p:sp>
        <p:nvSpPr>
          <p:cNvPr id="45" name="Text 42"/>
          <p:cNvSpPr/>
          <p:nvPr/>
        </p:nvSpPr>
        <p:spPr>
          <a:xfrm>
            <a:off x="246888" y="3789274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49808" y="3789274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cout&lt;&lt;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"Balance: "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&lt;&lt;balance;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endParaRPr lang="en-US" sz="880" dirty="0"/>
          </a:p>
        </p:txBody>
      </p:sp>
      <p:sp>
        <p:nvSpPr>
          <p:cNvPr id="47" name="Text 44"/>
          <p:cNvSpPr/>
          <p:nvPr/>
        </p:nvSpPr>
        <p:spPr>
          <a:xfrm>
            <a:off x="246888" y="3942893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49808" y="3942893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49" name="Text 46"/>
          <p:cNvSpPr/>
          <p:nvPr/>
        </p:nvSpPr>
        <p:spPr>
          <a:xfrm>
            <a:off x="246888" y="4096512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49808" y="4096512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ofstream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file(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"bank.txt"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80" dirty="0"/>
          </a:p>
        </p:txBody>
      </p:sp>
      <p:sp>
        <p:nvSpPr>
          <p:cNvPr id="51" name="Text 48"/>
          <p:cNvSpPr/>
          <p:nvPr/>
        </p:nvSpPr>
        <p:spPr>
          <a:xfrm>
            <a:off x="246888" y="4250131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49808" y="4250131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&lt;&lt; balance; file.close();</a:t>
            </a:r>
            <a:endParaRPr lang="en-US" sz="880" dirty="0"/>
          </a:p>
        </p:txBody>
      </p:sp>
      <p:sp>
        <p:nvSpPr>
          <p:cNvPr id="53" name="Text 50"/>
          <p:cNvSpPr/>
          <p:nvPr/>
        </p:nvSpPr>
        <p:spPr>
          <a:xfrm>
            <a:off x="246888" y="4403750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749808" y="4403750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880" dirty="0"/>
          </a:p>
        </p:txBody>
      </p:sp>
      <p:sp>
        <p:nvSpPr>
          <p:cNvPr id="55" name="Text 52"/>
          <p:cNvSpPr/>
          <p:nvPr/>
        </p:nvSpPr>
        <p:spPr>
          <a:xfrm>
            <a:off x="246888" y="4557370"/>
            <a:ext cx="42062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5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49808" y="4557370"/>
            <a:ext cx="76169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57" name="Text 54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 / 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Test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TC-01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Deposit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INPUT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237744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237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PIN: Correct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Operation: Deposit ₹500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OUTPUT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37744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9359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updated successfully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325112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25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PASS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10972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097280"/>
            <a:ext cx="265176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TC-02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Withdrawal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240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INPUT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2496312"/>
            <a:ext cx="237744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5237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PIN: Correct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Operation: Withdraw ₹200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3101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OUTPUT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3566160"/>
            <a:ext cx="237744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59359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reduced by ₹200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0" y="4325112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4325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PASS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10972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1097280"/>
            <a:ext cx="265176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TC-03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2648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Invalid PIN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2240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INPUT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2496312"/>
            <a:ext cx="237744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5237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PIN: Wrong (e.g. 0000)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Operation: 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33101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OUTPUT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3566160"/>
            <a:ext cx="237744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59359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PIN! — Access Denied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92240" y="4325112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325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  DENIED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 / 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41148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E35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258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34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Ops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1673352"/>
            <a:ext cx="3063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demonstrates deposit, withdrawal and balance enquiry with validation logic.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1148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E35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32588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34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Concepts Applied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69280" y="1673352"/>
            <a:ext cx="3063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Showcases conditionals, loops, switch-case, functions, and file I/O effectively.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11480" y="2971800"/>
            <a:ext cx="41148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E35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1480" y="297180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24612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54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Security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3593592"/>
            <a:ext cx="3063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authentication provides a simple but functional layer of user protection.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E35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7180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24612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154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Bridge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69280" y="3593592"/>
            <a:ext cx="3063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classroom C++ learning to how actual banking software operates.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 / 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97280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9728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15568" y="11430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5568" y="14173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console with a Qt / WinForms graphical interface for better usability.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43800" y="126187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43800" y="126187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187452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1874520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87452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15568" y="1920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15568" y="21945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flat files to a relational database for scalable multi-user storage.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43800" y="203911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203911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26517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265176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65176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115568" y="26974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15568" y="29718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web-server layer enabling internet-based transactions.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43800" y="281635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3800" y="281635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Future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" y="34290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342900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342900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115568" y="34747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Login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15568" y="374904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accounts with unique user IDs and separate balance tracking.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543800" y="359359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43800" y="359359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Future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20040" y="420624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20624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1115568" y="42519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&amp; Encryption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1115568" y="452628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one-time passwords and AES encryption for advanced security.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543800" y="437083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43800" y="437083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Advanced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 / 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2026-04-25T10:02:32Z</dcterms:created>
  <dcterms:modified xsi:type="dcterms:W3CDTF">2026-04-25T10:02:32Z</dcterms:modified>
</cp:coreProperties>
</file>