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9A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5029200" cy="6858000"/>
          </a:xfrm>
          <a:prstGeom prst="rect">
            <a:avLst/>
          </a:prstGeom>
          <a:solidFill>
            <a:srgbClr val="1A2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230368" y="0"/>
            <a:ext cx="6958584" cy="6858000"/>
          </a:xfrm>
          <a:prstGeom prst="rect">
            <a:avLst/>
          </a:prstGeom>
          <a:solidFill>
            <a:srgbClr val="07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pp_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240" y="274320"/>
            <a:ext cx="6492240" cy="44348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349240" y="274320"/>
            <a:ext cx="6492240" cy="54864"/>
          </a:xfrm>
          <a:prstGeom prst="rect">
            <a:avLst/>
          </a:prstGeom>
          <a:solidFill>
            <a:srgbClr val="C9A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49240" y="274320"/>
            <a:ext cx="36576" cy="4434840"/>
          </a:xfrm>
          <a:prstGeom prst="rect">
            <a:avLst/>
          </a:prstGeom>
          <a:solidFill>
            <a:srgbClr val="C9A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  <a:latin typeface="Calibri"/>
              </a:rPr>
              <a:t>BANK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011680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C9A02E"/>
                </a:solidFill>
                <a:latin typeface="Calibri"/>
              </a:rPr>
              <a:t>MANAGEMENT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9748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 i="0">
                <a:solidFill>
                  <a:srgbClr val="FFFFFF"/>
                </a:solidFill>
                <a:latin typeface="Calibri"/>
              </a:rPr>
              <a:t>SYSTEM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749039"/>
            <a:ext cx="4572000" cy="54864"/>
          </a:xfrm>
          <a:prstGeom prst="rect">
            <a:avLst/>
          </a:prstGeom>
          <a:solidFill>
            <a:srgbClr val="C9A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931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B7C93"/>
                </a:solidFill>
                <a:latin typeface="Calibri"/>
              </a:rPr>
              <a:t>Presented by: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31596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CH. NAGA HASINI  –  AP25110070302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N. VYSHNAVI SAI  –  AP25110070855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217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9A02E"/>
                </a:solidFill>
                <a:latin typeface="Calibri"/>
              </a:rPr>
              <a:t>C++  •  OOP  •  Console Application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D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7432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AIM OF THE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058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9A02E"/>
                </a:solidFill>
                <a:latin typeface="Calibri"/>
              </a:rPr>
              <a:t>What we set out to build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600200"/>
            <a:ext cx="274320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600200"/>
            <a:ext cx="2743200" cy="73152"/>
          </a:xfrm>
          <a:prstGeom prst="rect">
            <a:avLst/>
          </a:prstGeom>
          <a:solidFill>
            <a:srgbClr val="C9A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63039" y="1828800"/>
            <a:ext cx="640080" cy="640080"/>
          </a:xfrm>
          <a:prstGeom prst="ellipse">
            <a:avLst/>
          </a:prstGeom>
          <a:solidFill>
            <a:srgbClr val="0D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63039" y="1810512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9A02E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2651760"/>
            <a:ext cx="24231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3A4A"/>
                </a:solidFill>
                <a:latin typeface="Calibri"/>
              </a:rPr>
              <a:t>Develop a Bank Management System using C++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6120" y="1600200"/>
            <a:ext cx="274320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46120" y="1600200"/>
            <a:ext cx="2743200" cy="73152"/>
          </a:xfrm>
          <a:prstGeom prst="rect">
            <a:avLst/>
          </a:prstGeom>
          <a:solidFill>
            <a:srgbClr val="C9A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297679" y="1828800"/>
            <a:ext cx="640080" cy="640080"/>
          </a:xfrm>
          <a:prstGeom prst="ellipse">
            <a:avLst/>
          </a:prstGeom>
          <a:solidFill>
            <a:srgbClr val="0D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79" y="1810512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9A02E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10712" y="2651760"/>
            <a:ext cx="24231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3A4A"/>
                </a:solidFill>
                <a:latin typeface="Calibri"/>
              </a:rPr>
              <a:t>Simulate real-world banking operations in a console environment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80760" y="1600200"/>
            <a:ext cx="274320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80760" y="1600200"/>
            <a:ext cx="2743200" cy="73152"/>
          </a:xfrm>
          <a:prstGeom prst="rect">
            <a:avLst/>
          </a:prstGeom>
          <a:solidFill>
            <a:srgbClr val="C9A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132320" y="1828800"/>
            <a:ext cx="640080" cy="640080"/>
          </a:xfrm>
          <a:prstGeom prst="ellipse">
            <a:avLst/>
          </a:prstGeom>
          <a:solidFill>
            <a:srgbClr val="0D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0" y="1810512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9A02E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2651760"/>
            <a:ext cx="24231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3A4A"/>
                </a:solidFill>
                <a:latin typeface="Calibri"/>
              </a:rPr>
              <a:t>Implement account creation and transaction handling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15400" y="1600200"/>
            <a:ext cx="274320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15400" y="1600200"/>
            <a:ext cx="2743200" cy="73152"/>
          </a:xfrm>
          <a:prstGeom prst="rect">
            <a:avLst/>
          </a:prstGeom>
          <a:solidFill>
            <a:srgbClr val="C9A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966960" y="1828800"/>
            <a:ext cx="640080" cy="640080"/>
          </a:xfrm>
          <a:prstGeom prst="ellipse">
            <a:avLst/>
          </a:prstGeom>
          <a:solidFill>
            <a:srgbClr val="0D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66960" y="1810512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9A02E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79992" y="2651760"/>
            <a:ext cx="24231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3A4A"/>
                </a:solidFill>
                <a:latin typeface="Calibri"/>
              </a:rPr>
              <a:t>Ensure proper validation before performing any operation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D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54864"/>
          </a:xfrm>
          <a:prstGeom prst="rect">
            <a:avLst/>
          </a:prstGeom>
          <a:solidFill>
            <a:srgbClr val="C9A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27432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0058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9A02E"/>
                </a:solidFill>
                <a:latin typeface="Calibri"/>
              </a:rPr>
              <a:t>Overview of the system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737360"/>
            <a:ext cx="6217920" cy="466344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737360"/>
            <a:ext cx="109728" cy="4663440"/>
          </a:xfrm>
          <a:prstGeom prst="rect">
            <a:avLst/>
          </a:prstGeom>
          <a:solidFill>
            <a:srgbClr val="C9A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828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D1B4A"/>
                </a:solidFill>
                <a:latin typeface="Calibri"/>
              </a:rPr>
              <a:t>Key Highlights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331720"/>
            <a:ext cx="5760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2D3A4A"/>
                </a:solidFill>
                <a:latin typeface="Calibri"/>
              </a:rPr>
              <a:t>  ▸  Manages basic banking operations through a structured menu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D3A4A"/>
                </a:solidFill>
                <a:latin typeface="Calibri"/>
              </a:rPr>
              <a:t>  ▸  Console-based and user-friendly application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D3A4A"/>
                </a:solidFill>
                <a:latin typeface="Calibri"/>
              </a:rPr>
              <a:t>  ▸  Supports account creation, deposits, withdrawals, and balance checks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D3A4A"/>
                </a:solidFill>
                <a:latin typeface="Calibri"/>
              </a:rPr>
              <a:t>  ▸  Developed using Object-Oriented Programming principles in C++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03720" y="1737360"/>
            <a:ext cx="4892040" cy="2103120"/>
          </a:xfrm>
          <a:prstGeom prst="rect">
            <a:avLst/>
          </a:prstGeom>
          <a:solidFill>
            <a:srgbClr val="0D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78040" y="19202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9A02E"/>
                </a:solidFill>
                <a:latin typeface="Calibri"/>
              </a:rPr>
              <a:t>Technology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78040" y="23317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C++ with OOP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27432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7C93"/>
                </a:solidFill>
                <a:latin typeface="Calibri"/>
              </a:rPr>
              <a:t>Object-Oriented Design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03720" y="3977639"/>
            <a:ext cx="4892040" cy="2423160"/>
          </a:xfrm>
          <a:prstGeom prst="rect">
            <a:avLst/>
          </a:prstGeom>
          <a:solidFill>
            <a:srgbClr val="1A2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78040" y="41148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9A02E"/>
                </a:solidFill>
                <a:latin typeface="Calibri"/>
              </a:rPr>
              <a:t>Features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452628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✓  Account Creation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78040" y="493776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✓  Deposit &amp; Withdrawal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534924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✓  Balance Enquiry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576072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✓  Input Validation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7432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ABSTRACT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43000"/>
            <a:ext cx="9144000" cy="45720"/>
          </a:xfrm>
          <a:prstGeom prst="rect">
            <a:avLst/>
          </a:prstGeom>
          <a:solidFill>
            <a:srgbClr val="C9A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11247120" cy="2194560"/>
          </a:xfrm>
          <a:prstGeom prst="rect">
            <a:avLst/>
          </a:prstGeom>
          <a:solidFill>
            <a:srgbClr val="142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554480"/>
            <a:ext cx="107899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FFFFFF"/>
                </a:solidFill>
                <a:latin typeface="Calibri"/>
              </a:rPr>
              <a:t>"A console-based application designed to simulate real-world banking operations. The system allows users to create a bank account and perform essential transactions such as deposits and withdrawals. Operations are restricted until an account is created, demonstrating logical validation and real-world banking flow."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840480"/>
            <a:ext cx="2743200" cy="2560320"/>
          </a:xfrm>
          <a:prstGeom prst="rect">
            <a:avLst/>
          </a:prstGeom>
          <a:solidFill>
            <a:srgbClr val="142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3840480"/>
            <a:ext cx="2743200" cy="73152"/>
          </a:xfrm>
          <a:prstGeom prst="rect">
            <a:avLst/>
          </a:prstGeom>
          <a:solidFill>
            <a:srgbClr val="C9A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3977639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9A02E"/>
                </a:solidFill>
                <a:latin typeface="Calibri"/>
              </a:rPr>
              <a:t>Console 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462272"/>
            <a:ext cx="2468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Simulates banking via text-based menu interface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0" y="3840480"/>
            <a:ext cx="2743200" cy="2560320"/>
          </a:xfrm>
          <a:prstGeom prst="rect">
            <a:avLst/>
          </a:prstGeom>
          <a:solidFill>
            <a:srgbClr val="142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83280" y="3840480"/>
            <a:ext cx="2743200" cy="73152"/>
          </a:xfrm>
          <a:prstGeom prst="rect">
            <a:avLst/>
          </a:prstGeom>
          <a:solidFill>
            <a:srgbClr val="C9A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40" y="3977639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9A02E"/>
                </a:solidFill>
                <a:latin typeface="Calibri"/>
              </a:rPr>
              <a:t>Transactions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4462272"/>
            <a:ext cx="2468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Deposit, withdrawal &amp; balance check supported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3840480"/>
            <a:ext cx="2743200" cy="2560320"/>
          </a:xfrm>
          <a:prstGeom prst="rect">
            <a:avLst/>
          </a:prstGeom>
          <a:solidFill>
            <a:srgbClr val="142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3840480"/>
            <a:ext cx="2743200" cy="73152"/>
          </a:xfrm>
          <a:prstGeom prst="rect">
            <a:avLst/>
          </a:prstGeom>
          <a:solidFill>
            <a:srgbClr val="C9A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3977639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9A02E"/>
                </a:solidFill>
                <a:latin typeface="Calibri"/>
              </a:rPr>
              <a:t>Validation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4462272"/>
            <a:ext cx="2468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Prevents ops without account creation first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35440" y="3840480"/>
            <a:ext cx="2743200" cy="2560320"/>
          </a:xfrm>
          <a:prstGeom prst="rect">
            <a:avLst/>
          </a:prstGeom>
          <a:solidFill>
            <a:srgbClr val="142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235440" y="3840480"/>
            <a:ext cx="2743200" cy="73152"/>
          </a:xfrm>
          <a:prstGeom prst="rect">
            <a:avLst/>
          </a:prstGeom>
          <a:solidFill>
            <a:srgbClr val="C9A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72600" y="3977639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9A02E"/>
                </a:solidFill>
                <a:latin typeface="Calibri"/>
              </a:rPr>
              <a:t>OOP Design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600" y="4462272"/>
            <a:ext cx="2468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Real-world logic via encapsulation in C++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D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7432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REQUIREMENTS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058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9A02E"/>
                </a:solidFill>
                <a:latin typeface="Calibri"/>
              </a:rPr>
              <a:t>Software &amp; Hardware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691640"/>
            <a:ext cx="5394960" cy="4709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691640"/>
            <a:ext cx="5394960" cy="73152"/>
          </a:xfrm>
          <a:prstGeom prst="rect">
            <a:avLst/>
          </a:prstGeom>
          <a:solidFill>
            <a:srgbClr val="C9A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691640"/>
            <a:ext cx="91440" cy="4709160"/>
          </a:xfrm>
          <a:prstGeom prst="rect">
            <a:avLst/>
          </a:prstGeom>
          <a:solidFill>
            <a:srgbClr val="0D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D1B4A"/>
                </a:solidFill>
                <a:latin typeface="Calibri"/>
              </a:rPr>
              <a:t>💻  Software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377440"/>
            <a:ext cx="49377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>
                <a:solidFill>
                  <a:srgbClr val="2D3A4A"/>
                </a:solidFill>
                <a:latin typeface="Calibri"/>
              </a:rPr>
              <a:t>  ▸  C++ Compiler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2D3A4A"/>
                </a:solidFill>
                <a:latin typeface="Calibri"/>
              </a:rPr>
              <a:t>  ▸  Turbo C++ / Code::Blocks / VS Code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2D3A4A"/>
                </a:solidFill>
                <a:latin typeface="Calibri"/>
              </a:rPr>
              <a:t>  ▸  Operating System: Windows / Linux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2D3A4A"/>
                </a:solidFill>
                <a:latin typeface="Calibri"/>
              </a:rPr>
              <a:t>  ▸  Standard C++ Libraries (iostream, string)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691640"/>
            <a:ext cx="5394960" cy="4709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691640"/>
            <a:ext cx="5394960" cy="73152"/>
          </a:xfrm>
          <a:prstGeom prst="rect">
            <a:avLst/>
          </a:prstGeom>
          <a:solidFill>
            <a:srgbClr val="C9A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691640"/>
            <a:ext cx="91440" cy="4709160"/>
          </a:xfrm>
          <a:prstGeom prst="rect">
            <a:avLst/>
          </a:prstGeom>
          <a:solidFill>
            <a:srgbClr val="0D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D1B4A"/>
                </a:solidFill>
                <a:latin typeface="Calibri"/>
              </a:rPr>
              <a:t>🖥️  Hardware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377440"/>
            <a:ext cx="49377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>
                <a:solidFill>
                  <a:srgbClr val="2D3A4A"/>
                </a:solidFill>
                <a:latin typeface="Calibri"/>
              </a:rPr>
              <a:t>  ▸  Minimum 4 GB RAM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2D3A4A"/>
                </a:solidFill>
                <a:latin typeface="Calibri"/>
              </a:rPr>
              <a:t>  ▸  Processor: Intel Core i3 or above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2D3A4A"/>
                </a:solidFill>
                <a:latin typeface="Calibri"/>
              </a:rPr>
              <a:t>  ▸  Storage: 100 MB free space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2D3A4A"/>
                </a:solidFill>
                <a:latin typeface="Calibri"/>
              </a:rPr>
              <a:t>  ▸  Display: Any standard monitor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D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7432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METHODOLOGY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058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9A02E"/>
                </a:solidFill>
                <a:latin typeface="Calibri"/>
              </a:rPr>
              <a:t>Step-by-step operational flow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0" y="3291840"/>
            <a:ext cx="457200" cy="109728"/>
          </a:xfrm>
          <a:prstGeom prst="rect">
            <a:avLst/>
          </a:prstGeom>
          <a:solidFill>
            <a:srgbClr val="C9A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0" y="31546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9A02E"/>
                </a:solidFill>
                <a:latin typeface="Calibri"/>
              </a:rPr>
              <a:t>▶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91640"/>
            <a:ext cx="1828800" cy="4754880"/>
          </a:xfrm>
          <a:prstGeom prst="rect">
            <a:avLst/>
          </a:prstGeom>
          <a:solidFill>
            <a:srgbClr val="1A2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691640"/>
            <a:ext cx="1828800" cy="73152"/>
          </a:xfrm>
          <a:prstGeom prst="rect">
            <a:avLst/>
          </a:prstGeom>
          <a:solidFill>
            <a:srgbClr val="C9A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51560" y="1920240"/>
            <a:ext cx="640080" cy="640080"/>
          </a:xfrm>
          <a:prstGeom prst="ellipse">
            <a:avLst/>
          </a:prstGeom>
          <a:solidFill>
            <a:srgbClr val="C9A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1901952"/>
            <a:ext cx="6400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D1B4A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74320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C9A02E"/>
                </a:solidFill>
                <a:latin typeface="Calibri"/>
              </a:rPr>
              <a:t>Display Menu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337560"/>
            <a:ext cx="1645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Show all available banking options to the user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0" y="3291840"/>
            <a:ext cx="457200" cy="109728"/>
          </a:xfrm>
          <a:prstGeom prst="rect">
            <a:avLst/>
          </a:prstGeom>
          <a:solidFill>
            <a:srgbClr val="C9A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31546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9A02E"/>
                </a:solidFill>
                <a:latin typeface="Calibri"/>
              </a:rP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0" y="1691640"/>
            <a:ext cx="1828800" cy="4754880"/>
          </a:xfrm>
          <a:prstGeom prst="rect">
            <a:avLst/>
          </a:prstGeom>
          <a:solidFill>
            <a:srgbClr val="1A2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0" y="1691640"/>
            <a:ext cx="1828800" cy="73152"/>
          </a:xfrm>
          <a:prstGeom prst="rect">
            <a:avLst/>
          </a:prstGeom>
          <a:solidFill>
            <a:srgbClr val="C9A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337560" y="1920240"/>
            <a:ext cx="640080" cy="640080"/>
          </a:xfrm>
          <a:prstGeom prst="ellipse">
            <a:avLst/>
          </a:prstGeom>
          <a:solidFill>
            <a:srgbClr val="C9A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37560" y="1901952"/>
            <a:ext cx="6400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D1B4A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274320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C9A02E"/>
                </a:solidFill>
                <a:latin typeface="Calibri"/>
              </a:rPr>
              <a:t>User Selection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34640" y="3337560"/>
            <a:ext cx="1645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User picks the desired operation from the menu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0" y="3291840"/>
            <a:ext cx="457200" cy="109728"/>
          </a:xfrm>
          <a:prstGeom prst="rect">
            <a:avLst/>
          </a:prstGeom>
          <a:solidFill>
            <a:srgbClr val="C9A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0" y="31546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9A02E"/>
                </a:solidFill>
                <a:latin typeface="Calibri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0" y="1691640"/>
            <a:ext cx="1828800" cy="4754880"/>
          </a:xfrm>
          <a:prstGeom prst="rect">
            <a:avLst/>
          </a:prstGeom>
          <a:solidFill>
            <a:srgbClr val="1A2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0" y="1691640"/>
            <a:ext cx="1828800" cy="73152"/>
          </a:xfrm>
          <a:prstGeom prst="rect">
            <a:avLst/>
          </a:prstGeom>
          <a:solidFill>
            <a:srgbClr val="C9A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623560" y="1920240"/>
            <a:ext cx="640080" cy="640080"/>
          </a:xfrm>
          <a:prstGeom prst="ellipse">
            <a:avLst/>
          </a:prstGeom>
          <a:solidFill>
            <a:srgbClr val="C9A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23560" y="1901952"/>
            <a:ext cx="6400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D1B4A"/>
                </a:solidFill>
                <a:latin typeface="Calibri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40" y="274320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C9A02E"/>
                </a:solidFill>
                <a:latin typeface="Calibri"/>
              </a:rPr>
              <a:t>Account Check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20640" y="3337560"/>
            <a:ext cx="1645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Verify whether a bank account has been created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00" y="3291840"/>
            <a:ext cx="457200" cy="109728"/>
          </a:xfrm>
          <a:prstGeom prst="rect">
            <a:avLst/>
          </a:prstGeom>
          <a:solidFill>
            <a:srgbClr val="C9A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0" y="31546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9A02E"/>
                </a:solidFill>
                <a:latin typeface="Calibri"/>
              </a:rPr>
              <a:t>▶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0" y="1691640"/>
            <a:ext cx="1828800" cy="4754880"/>
          </a:xfrm>
          <a:prstGeom prst="rect">
            <a:avLst/>
          </a:prstGeom>
          <a:solidFill>
            <a:srgbClr val="1A2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315200" y="1691640"/>
            <a:ext cx="1828800" cy="73152"/>
          </a:xfrm>
          <a:prstGeom prst="rect">
            <a:avLst/>
          </a:prstGeom>
          <a:solidFill>
            <a:srgbClr val="C9A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909560" y="1920240"/>
            <a:ext cx="640080" cy="640080"/>
          </a:xfrm>
          <a:prstGeom prst="ellipse">
            <a:avLst/>
          </a:prstGeom>
          <a:solidFill>
            <a:srgbClr val="C9A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09560" y="1901952"/>
            <a:ext cx="6400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D1B4A"/>
                </a:solidFill>
                <a:latin typeface="Calibri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06640" y="274320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C9A02E"/>
                </a:solidFill>
                <a:latin typeface="Calibri"/>
              </a:rPr>
              <a:t>Execute Operation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06640" y="3337560"/>
            <a:ext cx="1645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Perform the selected banking transaction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601200" y="1691640"/>
            <a:ext cx="1828800" cy="4754880"/>
          </a:xfrm>
          <a:prstGeom prst="rect">
            <a:avLst/>
          </a:prstGeom>
          <a:solidFill>
            <a:srgbClr val="1A2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601200" y="1691640"/>
            <a:ext cx="1828800" cy="73152"/>
          </a:xfrm>
          <a:prstGeom prst="rect">
            <a:avLst/>
          </a:prstGeom>
          <a:solidFill>
            <a:srgbClr val="C9A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195560" y="1920240"/>
            <a:ext cx="640080" cy="640080"/>
          </a:xfrm>
          <a:prstGeom prst="ellipse">
            <a:avLst/>
          </a:prstGeom>
          <a:solidFill>
            <a:srgbClr val="C9A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195560" y="1901952"/>
            <a:ext cx="6400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D1B4A"/>
                </a:solidFill>
                <a:latin typeface="Calibri"/>
              </a:rPr>
              <a:t>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92640" y="274320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C9A02E"/>
                </a:solidFill>
                <a:latin typeface="Calibri"/>
              </a:rPr>
              <a:t>Show Result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92640" y="3337560"/>
            <a:ext cx="1645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Display the outcome or updated balance to the user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7432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WORKFLOW DIAGRAM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43000"/>
            <a:ext cx="9144000" cy="45720"/>
          </a:xfrm>
          <a:prstGeom prst="rect">
            <a:avLst/>
          </a:prstGeom>
          <a:solidFill>
            <a:srgbClr val="C9A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814316" y="1371600"/>
            <a:ext cx="2560320" cy="502920"/>
          </a:xfrm>
          <a:prstGeom prst="rect">
            <a:avLst/>
          </a:prstGeom>
          <a:solidFill>
            <a:srgbClr val="C9A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14316" y="13716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4A"/>
                </a:solidFill>
                <a:latin typeface="Calibri"/>
              </a:rPr>
              <a:t>START</a:t>
            </a:r>
          </a:p>
        </p:txBody>
      </p:sp>
      <p:sp>
        <p:nvSpPr>
          <p:cNvPr id="8" name="Rectangle 7"/>
          <p:cNvSpPr/>
          <p:nvPr/>
        </p:nvSpPr>
        <p:spPr>
          <a:xfrm>
            <a:off x="6003036" y="1874519"/>
            <a:ext cx="182880" cy="246888"/>
          </a:xfrm>
          <a:prstGeom prst="rect">
            <a:avLst/>
          </a:prstGeom>
          <a:solidFill>
            <a:srgbClr val="C9A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814316" y="2121408"/>
            <a:ext cx="2560320" cy="502920"/>
          </a:xfrm>
          <a:prstGeom prst="rect">
            <a:avLst/>
          </a:prstGeom>
          <a:solidFill>
            <a:srgbClr val="142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14316" y="2121408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Display Menu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03036" y="2624328"/>
            <a:ext cx="182880" cy="246888"/>
          </a:xfrm>
          <a:prstGeom prst="rect">
            <a:avLst/>
          </a:prstGeom>
          <a:solidFill>
            <a:srgbClr val="C9A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814316" y="2871215"/>
            <a:ext cx="2560320" cy="502920"/>
          </a:xfrm>
          <a:prstGeom prst="rect">
            <a:avLst/>
          </a:prstGeom>
          <a:solidFill>
            <a:srgbClr val="142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14316" y="2871215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User Makes a Choice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03036" y="3374135"/>
            <a:ext cx="182880" cy="246888"/>
          </a:xfrm>
          <a:prstGeom prst="rect">
            <a:avLst/>
          </a:prstGeom>
          <a:solidFill>
            <a:srgbClr val="C9A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iamond 14"/>
          <p:cNvSpPr/>
          <p:nvPr/>
        </p:nvSpPr>
        <p:spPr>
          <a:xfrm>
            <a:off x="4814316" y="3621024"/>
            <a:ext cx="2560320" cy="594360"/>
          </a:xfrm>
          <a:prstGeom prst="diamond">
            <a:avLst/>
          </a:prstGeom>
          <a:solidFill>
            <a:srgbClr val="C9A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14316" y="3621024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4A"/>
                </a:solidFill>
                <a:latin typeface="Calibri"/>
              </a:rPr>
              <a:t>Is Account Created?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66076" y="3666744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CC44"/>
                </a:solidFill>
                <a:latin typeface="Calibri"/>
              </a:rPr>
              <a:t>No →  Show: 'Please create account first'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03036" y="4123944"/>
            <a:ext cx="182880" cy="246888"/>
          </a:xfrm>
          <a:prstGeom prst="rect">
            <a:avLst/>
          </a:prstGeom>
          <a:solidFill>
            <a:srgbClr val="C9A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814316" y="4370831"/>
            <a:ext cx="2560320" cy="502920"/>
          </a:xfrm>
          <a:prstGeom prst="rect">
            <a:avLst/>
          </a:prstGeom>
          <a:solidFill>
            <a:srgbClr val="142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14316" y="4370831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Perform Operation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03036" y="4873751"/>
            <a:ext cx="182880" cy="246888"/>
          </a:xfrm>
          <a:prstGeom prst="rect">
            <a:avLst/>
          </a:prstGeom>
          <a:solidFill>
            <a:srgbClr val="C9A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814316" y="5120640"/>
            <a:ext cx="2560320" cy="502920"/>
          </a:xfrm>
          <a:prstGeom prst="rect">
            <a:avLst/>
          </a:prstGeom>
          <a:solidFill>
            <a:srgbClr val="142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14316" y="51206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Display Output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03036" y="5623559"/>
            <a:ext cx="182880" cy="246888"/>
          </a:xfrm>
          <a:prstGeom prst="rect">
            <a:avLst/>
          </a:prstGeom>
          <a:solidFill>
            <a:srgbClr val="C9A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814316" y="5870448"/>
            <a:ext cx="2560320" cy="502920"/>
          </a:xfrm>
          <a:prstGeom prst="rect">
            <a:avLst/>
          </a:prstGeom>
          <a:solidFill>
            <a:srgbClr val="C9A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14316" y="5870448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4A"/>
                </a:solidFill>
                <a:latin typeface="Calibri"/>
              </a:rPr>
              <a:t>EXIT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CODE – BankAccount Class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868680"/>
            <a:ext cx="10515600" cy="45720"/>
          </a:xfrm>
          <a:prstGeom prst="rect">
            <a:avLst/>
          </a:prstGeom>
          <a:solidFill>
            <a:srgbClr val="C9A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5577840" cy="5715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05840"/>
            <a:ext cx="5577840" cy="36576"/>
          </a:xfrm>
          <a:prstGeom prst="rect">
            <a:avLst/>
          </a:prstGeom>
          <a:solidFill>
            <a:srgbClr val="C9A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115568"/>
            <a:ext cx="530352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6B7C93"/>
                </a:solidFill>
                <a:latin typeface="Consolas"/>
              </a:rPr>
              <a:t>#include &lt;iostream&gt;</a:t>
            </a:r>
          </a:p>
          <a:p>
            <a:r>
              <a:rPr sz="950">
                <a:solidFill>
                  <a:srgbClr val="6B7C93"/>
                </a:solidFill>
                <a:latin typeface="Consolas"/>
              </a:rPr>
              <a:t>#include &lt;string&gt;</a:t>
            </a:r>
          </a:p>
          <a:p>
            <a:r>
              <a:rPr sz="950">
                <a:solidFill>
                  <a:srgbClr val="569CD6"/>
                </a:solidFill>
                <a:latin typeface="Consolas"/>
              </a:rPr>
              <a:t>using namespace std;</a:t>
            </a:r>
          </a:p>
          <a:p>
            <a:r>
              <a:rPr sz="950">
                <a:solidFill>
                  <a:srgbClr val="FFFFFF"/>
                </a:solidFill>
                <a:latin typeface="Consolas"/>
              </a:rPr>
              <a:t/>
            </a:r>
          </a:p>
          <a:p>
            <a:r>
              <a:rPr sz="950">
                <a:solidFill>
                  <a:srgbClr val="569CD6"/>
                </a:solidFill>
                <a:latin typeface="Consolas"/>
              </a:rPr>
              <a:t>class BankAccount {</a:t>
            </a:r>
          </a:p>
          <a:p>
            <a:r>
              <a:rPr sz="950">
                <a:solidFill>
                  <a:srgbClr val="569CD6"/>
                </a:solidFill>
                <a:latin typeface="Consolas"/>
              </a:rPr>
              <a:t>private:</a:t>
            </a:r>
          </a:p>
          <a:p>
            <a:r>
              <a:rPr sz="950">
                <a:solidFill>
                  <a:srgbClr val="569CD6"/>
                </a:solidFill>
                <a:latin typeface="Consolas"/>
              </a:rPr>
              <a:t>    string name;</a:t>
            </a:r>
          </a:p>
          <a:p>
            <a:r>
              <a:rPr sz="950">
                <a:solidFill>
                  <a:srgbClr val="569CD6"/>
                </a:solidFill>
                <a:latin typeface="Consolas"/>
              </a:rPr>
              <a:t>    int accNo;</a:t>
            </a:r>
          </a:p>
          <a:p>
            <a:r>
              <a:rPr sz="950">
                <a:solidFill>
                  <a:srgbClr val="569CD6"/>
                </a:solidFill>
                <a:latin typeface="Consolas"/>
              </a:rPr>
              <a:t>    double balance;</a:t>
            </a:r>
          </a:p>
          <a:p>
            <a:r>
              <a:rPr sz="950">
                <a:solidFill>
                  <a:srgbClr val="569CD6"/>
                </a:solidFill>
                <a:latin typeface="Consolas"/>
              </a:rPr>
              <a:t>    bool accountExists;</a:t>
            </a:r>
          </a:p>
          <a:p>
            <a:r>
              <a:rPr sz="950">
                <a:solidFill>
                  <a:srgbClr val="FFFFFF"/>
                </a:solidFill>
                <a:latin typeface="Consolas"/>
              </a:rPr>
              <a:t/>
            </a:r>
          </a:p>
          <a:p>
            <a:r>
              <a:rPr sz="950">
                <a:solidFill>
                  <a:srgbClr val="569CD6"/>
                </a:solidFill>
                <a:latin typeface="Consolas"/>
              </a:rPr>
              <a:t>public:</a:t>
            </a:r>
          </a:p>
          <a:p>
            <a:r>
              <a:rPr sz="950">
                <a:solidFill>
                  <a:srgbClr val="FFFFFF"/>
                </a:solidFill>
                <a:latin typeface="Consolas"/>
              </a:rPr>
              <a:t>    BankAccount() {</a:t>
            </a:r>
          </a:p>
          <a:p>
            <a:r>
              <a:rPr sz="950">
                <a:solidFill>
                  <a:srgbClr val="FFFFFF"/>
                </a:solidFill>
                <a:latin typeface="Consolas"/>
              </a:rPr>
              <a:t>        balance = 0;</a:t>
            </a:r>
          </a:p>
          <a:p>
            <a:r>
              <a:rPr sz="950">
                <a:solidFill>
                  <a:srgbClr val="FFFFFF"/>
                </a:solidFill>
                <a:latin typeface="Consolas"/>
              </a:rPr>
              <a:t>        accountExists = false;</a:t>
            </a:r>
          </a:p>
          <a:p>
            <a:r>
              <a:rPr sz="950">
                <a:solidFill>
                  <a:srgbClr val="FFFFFF"/>
                </a:solidFill>
                <a:latin typeface="Consolas"/>
              </a:rPr>
              <a:t>    }</a:t>
            </a:r>
          </a:p>
          <a:p>
            <a:r>
              <a:rPr sz="950">
                <a:solidFill>
                  <a:srgbClr val="FFFFFF"/>
                </a:solidFill>
                <a:latin typeface="Consolas"/>
              </a:rPr>
              <a:t/>
            </a:r>
          </a:p>
          <a:p>
            <a:r>
              <a:rPr sz="950">
                <a:solidFill>
                  <a:srgbClr val="569CD6"/>
                </a:solidFill>
                <a:latin typeface="Consolas"/>
              </a:rPr>
              <a:t>    void createAccount() {</a:t>
            </a:r>
          </a:p>
          <a:p>
            <a:r>
              <a:rPr sz="950">
                <a:solidFill>
                  <a:srgbClr val="4EC98E"/>
                </a:solidFill>
                <a:latin typeface="Consolas"/>
              </a:rPr>
              <a:t>        cout &lt;&lt; "Enter Account Holder Name: ";</a:t>
            </a:r>
          </a:p>
          <a:p>
            <a:r>
              <a:rPr sz="950">
                <a:solidFill>
                  <a:srgbClr val="4EC98E"/>
                </a:solidFill>
                <a:latin typeface="Consolas"/>
              </a:rPr>
              <a:t>        cin &gt;&gt; name;</a:t>
            </a:r>
          </a:p>
          <a:p>
            <a:r>
              <a:rPr sz="950">
                <a:solidFill>
                  <a:srgbClr val="4EC98E"/>
                </a:solidFill>
                <a:latin typeface="Consolas"/>
              </a:rPr>
              <a:t>        cout &lt;&lt; "Enter Account Number: ";</a:t>
            </a:r>
          </a:p>
          <a:p>
            <a:r>
              <a:rPr sz="950">
                <a:solidFill>
                  <a:srgbClr val="4EC98E"/>
                </a:solidFill>
                <a:latin typeface="Consolas"/>
              </a:rPr>
              <a:t>        cin &gt;&gt; accNo;</a:t>
            </a:r>
          </a:p>
          <a:p>
            <a:r>
              <a:rPr sz="950">
                <a:solidFill>
                  <a:srgbClr val="4EC98E"/>
                </a:solidFill>
                <a:latin typeface="Consolas"/>
              </a:rPr>
              <a:t>        cout &lt;&lt; "Enter Initial Balance: ";</a:t>
            </a:r>
          </a:p>
          <a:p>
            <a:r>
              <a:rPr sz="950">
                <a:solidFill>
                  <a:srgbClr val="4EC98E"/>
                </a:solidFill>
                <a:latin typeface="Consolas"/>
              </a:rPr>
              <a:t>        cin &gt;&gt; balance;</a:t>
            </a:r>
          </a:p>
          <a:p>
            <a:r>
              <a:rPr sz="950">
                <a:solidFill>
                  <a:srgbClr val="FFFFFF"/>
                </a:solidFill>
                <a:latin typeface="Consolas"/>
              </a:rPr>
              <a:t>        accountExists = true;</a:t>
            </a:r>
          </a:p>
          <a:p>
            <a:r>
              <a:rPr sz="950">
                <a:solidFill>
                  <a:srgbClr val="4EC98E"/>
                </a:solidFill>
                <a:latin typeface="Consolas"/>
              </a:rPr>
              <a:t>        cout &lt;&lt; "Account Created Successfully!" &lt;&lt; endl;</a:t>
            </a:r>
          </a:p>
          <a:p>
            <a:r>
              <a:rPr sz="950">
                <a:solidFill>
                  <a:srgbClr val="FFFFFF"/>
                </a:solidFill>
                <a:latin typeface="Consolas"/>
              </a:rPr>
              <a:t>    }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005840"/>
            <a:ext cx="5577840" cy="5715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1005840"/>
            <a:ext cx="5577840" cy="36576"/>
          </a:xfrm>
          <a:prstGeom prst="rect">
            <a:avLst/>
          </a:prstGeom>
          <a:solidFill>
            <a:srgbClr val="C9A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115568"/>
            <a:ext cx="530352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569CD6"/>
                </a:solidFill>
                <a:latin typeface="Consolas"/>
              </a:rPr>
              <a:t>void deposit() {</a:t>
            </a:r>
          </a:p>
          <a:p>
            <a:r>
              <a:rPr sz="950">
                <a:solidFill>
                  <a:srgbClr val="569CD6"/>
                </a:solidFill>
                <a:latin typeface="Consolas"/>
              </a:rPr>
              <a:t>        if (!accountExists) {</a:t>
            </a:r>
          </a:p>
          <a:p>
            <a:r>
              <a:rPr sz="950">
                <a:solidFill>
                  <a:srgbClr val="4EC98E"/>
                </a:solidFill>
                <a:latin typeface="Consolas"/>
              </a:rPr>
              <a:t>            cout &lt;&lt; "No account! Create one first." &lt;&lt; endl;</a:t>
            </a:r>
          </a:p>
          <a:p>
            <a:r>
              <a:rPr sz="950">
                <a:solidFill>
                  <a:srgbClr val="569CD6"/>
                </a:solidFill>
                <a:latin typeface="Consolas"/>
              </a:rPr>
              <a:t>            return;</a:t>
            </a:r>
          </a:p>
          <a:p>
            <a:r>
              <a:rPr sz="950">
                <a:solidFill>
                  <a:srgbClr val="FFFFFF"/>
                </a:solidFill>
                <a:latin typeface="Consolas"/>
              </a:rPr>
              <a:t>        }</a:t>
            </a:r>
          </a:p>
          <a:p>
            <a:r>
              <a:rPr sz="950">
                <a:solidFill>
                  <a:srgbClr val="569CD6"/>
                </a:solidFill>
                <a:latin typeface="Consolas"/>
              </a:rPr>
              <a:t>        double amount;</a:t>
            </a:r>
          </a:p>
          <a:p>
            <a:r>
              <a:rPr sz="950">
                <a:solidFill>
                  <a:srgbClr val="4EC98E"/>
                </a:solidFill>
                <a:latin typeface="Consolas"/>
              </a:rPr>
              <a:t>        cout &lt;&lt; "Enter amount to deposit: ";</a:t>
            </a:r>
          </a:p>
          <a:p>
            <a:r>
              <a:rPr sz="950">
                <a:solidFill>
                  <a:srgbClr val="4EC98E"/>
                </a:solidFill>
                <a:latin typeface="Consolas"/>
              </a:rPr>
              <a:t>        cin &gt;&gt; amount;</a:t>
            </a:r>
          </a:p>
          <a:p>
            <a:r>
              <a:rPr sz="950">
                <a:solidFill>
                  <a:srgbClr val="FFFFFF"/>
                </a:solidFill>
                <a:latin typeface="Consolas"/>
              </a:rPr>
              <a:t>        balance += amount;</a:t>
            </a:r>
          </a:p>
          <a:p>
            <a:r>
              <a:rPr sz="950">
                <a:solidFill>
                  <a:srgbClr val="4EC98E"/>
                </a:solidFill>
                <a:latin typeface="Consolas"/>
              </a:rPr>
              <a:t>        cout &lt;&lt; "Deposit Successful! Balance: " &lt;&lt; balance;</a:t>
            </a:r>
          </a:p>
          <a:p>
            <a:r>
              <a:rPr sz="950">
                <a:solidFill>
                  <a:srgbClr val="FFFFFF"/>
                </a:solidFill>
                <a:latin typeface="Consolas"/>
              </a:rPr>
              <a:t>    }</a:t>
            </a:r>
          </a:p>
          <a:p>
            <a:r>
              <a:rPr sz="950">
                <a:solidFill>
                  <a:srgbClr val="FFFFFF"/>
                </a:solidFill>
                <a:latin typeface="Consolas"/>
              </a:rPr>
              <a:t/>
            </a:r>
          </a:p>
          <a:p>
            <a:r>
              <a:rPr sz="950">
                <a:solidFill>
                  <a:srgbClr val="569CD6"/>
                </a:solidFill>
                <a:latin typeface="Consolas"/>
              </a:rPr>
              <a:t>    void withdraw() {</a:t>
            </a:r>
          </a:p>
          <a:p>
            <a:r>
              <a:rPr sz="950">
                <a:solidFill>
                  <a:srgbClr val="569CD6"/>
                </a:solidFill>
                <a:latin typeface="Consolas"/>
              </a:rPr>
              <a:t>        if (!accountExists) { return; }</a:t>
            </a:r>
          </a:p>
          <a:p>
            <a:r>
              <a:rPr sz="950">
                <a:solidFill>
                  <a:srgbClr val="569CD6"/>
                </a:solidFill>
                <a:latin typeface="Consolas"/>
              </a:rPr>
              <a:t>        double amount;</a:t>
            </a:r>
          </a:p>
          <a:p>
            <a:r>
              <a:rPr sz="950">
                <a:solidFill>
                  <a:srgbClr val="4EC98E"/>
                </a:solidFill>
                <a:latin typeface="Consolas"/>
              </a:rPr>
              <a:t>        cin &gt;&gt; amount;</a:t>
            </a:r>
          </a:p>
          <a:p>
            <a:r>
              <a:rPr sz="950">
                <a:solidFill>
                  <a:srgbClr val="569CD6"/>
                </a:solidFill>
                <a:latin typeface="Consolas"/>
              </a:rPr>
              <a:t>        if (amount &gt; balance) {</a:t>
            </a:r>
          </a:p>
          <a:p>
            <a:r>
              <a:rPr sz="950">
                <a:solidFill>
                  <a:srgbClr val="4EC98E"/>
                </a:solidFill>
                <a:latin typeface="Consolas"/>
              </a:rPr>
              <a:t>            cout &lt;&lt; "Insufficient Balance!" &lt;&lt; endl;</a:t>
            </a:r>
          </a:p>
          <a:p>
            <a:r>
              <a:rPr sz="950">
                <a:solidFill>
                  <a:srgbClr val="569CD6"/>
                </a:solidFill>
                <a:latin typeface="Consolas"/>
              </a:rPr>
              <a:t>        } else {</a:t>
            </a:r>
          </a:p>
          <a:p>
            <a:r>
              <a:rPr sz="950">
                <a:solidFill>
                  <a:srgbClr val="FFFFFF"/>
                </a:solidFill>
                <a:latin typeface="Consolas"/>
              </a:rPr>
              <a:t>            balance -= amount;</a:t>
            </a:r>
          </a:p>
          <a:p>
            <a:r>
              <a:rPr sz="950">
                <a:solidFill>
                  <a:srgbClr val="4EC98E"/>
                </a:solidFill>
                <a:latin typeface="Consolas"/>
              </a:rPr>
              <a:t>            cout &lt;&lt; "Remaining Balance: " &lt;&lt; balance;</a:t>
            </a:r>
          </a:p>
          <a:p>
            <a:r>
              <a:rPr sz="950">
                <a:solidFill>
                  <a:srgbClr val="FFFFFF"/>
                </a:solidFill>
                <a:latin typeface="Consolas"/>
              </a:rPr>
              <a:t>        }</a:t>
            </a:r>
          </a:p>
          <a:p>
            <a:r>
              <a:rPr sz="950">
                <a:solidFill>
                  <a:srgbClr val="FFFFFF"/>
                </a:solidFill>
                <a:latin typeface="Consolas"/>
              </a:rPr>
              <a:t>    }</a:t>
            </a:r>
          </a:p>
          <a:p>
            <a:r>
              <a:rPr sz="950">
                <a:solidFill>
                  <a:srgbClr val="FFFFFF"/>
                </a:solidFill>
                <a:latin typeface="Consolas"/>
              </a:rPr>
              <a:t/>
            </a:r>
          </a:p>
          <a:p>
            <a:r>
              <a:rPr sz="950">
                <a:solidFill>
                  <a:srgbClr val="569CD6"/>
                </a:solidFill>
                <a:latin typeface="Consolas"/>
              </a:rPr>
              <a:t>    void checkBalance() {</a:t>
            </a:r>
          </a:p>
          <a:p>
            <a:r>
              <a:rPr sz="950">
                <a:solidFill>
                  <a:srgbClr val="569CD6"/>
                </a:solidFill>
                <a:latin typeface="Consolas"/>
              </a:rPr>
              <a:t>        if (!accountExists) { return; }</a:t>
            </a:r>
          </a:p>
          <a:p>
            <a:r>
              <a:rPr sz="950">
                <a:solidFill>
                  <a:srgbClr val="4EC98E"/>
                </a:solidFill>
                <a:latin typeface="Consolas"/>
              </a:rPr>
              <a:t>        cout &lt;&lt; "Current Balance: " &lt;&lt; balance &lt;&lt; endl;</a:t>
            </a:r>
          </a:p>
          <a:p>
            <a:r>
              <a:rPr sz="950">
                <a:solidFill>
                  <a:srgbClr val="FFFFFF"/>
                </a:solidFill>
                <a:latin typeface="Consolas"/>
              </a:rPr>
              <a:t>    }</a:t>
            </a:r>
          </a:p>
          <a:p>
            <a:r>
              <a:rPr sz="950">
                <a:solidFill>
                  <a:srgbClr val="FFFFFF"/>
                </a:solidFill>
                <a:latin typeface="Consolas"/>
              </a:rPr>
              <a:t>};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CODE – Main Function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868680"/>
            <a:ext cx="10515600" cy="45720"/>
          </a:xfrm>
          <a:prstGeom prst="rect">
            <a:avLst/>
          </a:prstGeom>
          <a:solidFill>
            <a:srgbClr val="C9A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6858000" cy="56692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05840"/>
            <a:ext cx="6858000" cy="36576"/>
          </a:xfrm>
          <a:prstGeom prst="rect">
            <a:avLst/>
          </a:prstGeom>
          <a:solidFill>
            <a:srgbClr val="C9A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115568"/>
            <a:ext cx="6583680" cy="5440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69CD6"/>
                </a:solidFill>
                <a:latin typeface="Consolas"/>
              </a:rPr>
              <a:t>int main() {</a:t>
            </a:r>
          </a:p>
          <a:p>
            <a:r>
              <a:rPr sz="1100">
                <a:solidFill>
                  <a:srgbClr val="FFFFFF"/>
                </a:solidFill>
                <a:latin typeface="Consolas"/>
              </a:rPr>
              <a:t>    BankAccount acc;</a:t>
            </a:r>
          </a:p>
          <a:p>
            <a:r>
              <a:rPr sz="1100">
                <a:solidFill>
                  <a:srgbClr val="569CD6"/>
                </a:solidFill>
                <a:latin typeface="Consolas"/>
              </a:rPr>
              <a:t>    int choice;</a:t>
            </a:r>
          </a:p>
          <a:p>
            <a:r>
              <a:rPr sz="1100">
                <a:solidFill>
                  <a:srgbClr val="FFFFFF"/>
                </a:solidFill>
                <a:latin typeface="Consolas"/>
              </a:rPr>
              <a:t/>
            </a:r>
          </a:p>
          <a:p>
            <a:r>
              <a:rPr sz="1100">
                <a:solidFill>
                  <a:srgbClr val="FFFFFF"/>
                </a:solidFill>
                <a:latin typeface="Consolas"/>
              </a:rPr>
              <a:t>    do {</a:t>
            </a:r>
          </a:p>
          <a:p>
            <a:r>
              <a:rPr sz="1100">
                <a:solidFill>
                  <a:srgbClr val="4EC98E"/>
                </a:solidFill>
                <a:latin typeface="Consolas"/>
              </a:rPr>
              <a:t>        cout &lt;&lt; "\n===== BANK MANAGEMENT SYSTEM =====" &lt;&lt; endl;</a:t>
            </a:r>
          </a:p>
          <a:p>
            <a:r>
              <a:rPr sz="1100">
                <a:solidFill>
                  <a:srgbClr val="4EC98E"/>
                </a:solidFill>
                <a:latin typeface="Consolas"/>
              </a:rPr>
              <a:t>        cout &lt;&lt; "1. Create Account" &lt;&lt; endl;</a:t>
            </a:r>
          </a:p>
          <a:p>
            <a:r>
              <a:rPr sz="1100">
                <a:solidFill>
                  <a:srgbClr val="4EC98E"/>
                </a:solidFill>
                <a:latin typeface="Consolas"/>
              </a:rPr>
              <a:t>        cout &lt;&lt; "2. Deposit"        &lt;&lt; endl;</a:t>
            </a:r>
          </a:p>
          <a:p>
            <a:r>
              <a:rPr sz="1100">
                <a:solidFill>
                  <a:srgbClr val="4EC98E"/>
                </a:solidFill>
                <a:latin typeface="Consolas"/>
              </a:rPr>
              <a:t>        cout &lt;&lt; "3. Withdraw"       &lt;&lt; endl;</a:t>
            </a:r>
          </a:p>
          <a:p>
            <a:r>
              <a:rPr sz="1100">
                <a:solidFill>
                  <a:srgbClr val="4EC98E"/>
                </a:solidFill>
                <a:latin typeface="Consolas"/>
              </a:rPr>
              <a:t>        cout &lt;&lt; "4. Check Balance"  &lt;&lt; endl;</a:t>
            </a:r>
          </a:p>
          <a:p>
            <a:r>
              <a:rPr sz="1100">
                <a:solidFill>
                  <a:srgbClr val="4EC98E"/>
                </a:solidFill>
                <a:latin typeface="Consolas"/>
              </a:rPr>
              <a:t>        cout &lt;&lt; "5. Exit"           &lt;&lt; endl;</a:t>
            </a:r>
          </a:p>
          <a:p>
            <a:r>
              <a:rPr sz="1100">
                <a:solidFill>
                  <a:srgbClr val="4EC98E"/>
                </a:solidFill>
                <a:latin typeface="Consolas"/>
              </a:rPr>
              <a:t>        cout &lt;&lt; "Enter your choice: ";</a:t>
            </a:r>
          </a:p>
          <a:p>
            <a:r>
              <a:rPr sz="1100">
                <a:solidFill>
                  <a:srgbClr val="4EC98E"/>
                </a:solidFill>
                <a:latin typeface="Consolas"/>
              </a:rPr>
              <a:t>        cin &gt;&gt; choice;</a:t>
            </a:r>
          </a:p>
          <a:p>
            <a:r>
              <a:rPr sz="1100">
                <a:solidFill>
                  <a:srgbClr val="FFFFFF"/>
                </a:solidFill>
                <a:latin typeface="Consolas"/>
              </a:rPr>
              <a:t/>
            </a:r>
          </a:p>
          <a:p>
            <a:r>
              <a:rPr sz="1100">
                <a:solidFill>
                  <a:srgbClr val="569CD6"/>
                </a:solidFill>
                <a:latin typeface="Consolas"/>
              </a:rPr>
              <a:t>        switch(choice) {</a:t>
            </a:r>
          </a:p>
          <a:p>
            <a:r>
              <a:rPr sz="1100">
                <a:solidFill>
                  <a:srgbClr val="569CD6"/>
                </a:solidFill>
                <a:latin typeface="Consolas"/>
              </a:rPr>
              <a:t>            case 1: acc.createAccount(); break;</a:t>
            </a:r>
          </a:p>
          <a:p>
            <a:r>
              <a:rPr sz="1100">
                <a:solidFill>
                  <a:srgbClr val="569CD6"/>
                </a:solidFill>
                <a:latin typeface="Consolas"/>
              </a:rPr>
              <a:t>            case 2: acc.deposit();       break;</a:t>
            </a:r>
          </a:p>
          <a:p>
            <a:r>
              <a:rPr sz="1100">
                <a:solidFill>
                  <a:srgbClr val="569CD6"/>
                </a:solidFill>
                <a:latin typeface="Consolas"/>
              </a:rPr>
              <a:t>            case 3: acc.withdraw();      break;</a:t>
            </a:r>
          </a:p>
          <a:p>
            <a:r>
              <a:rPr sz="1100">
                <a:solidFill>
                  <a:srgbClr val="569CD6"/>
                </a:solidFill>
                <a:latin typeface="Consolas"/>
              </a:rPr>
              <a:t>            case 4: acc.checkBalance();  break;</a:t>
            </a:r>
          </a:p>
          <a:p>
            <a:r>
              <a:rPr sz="1100">
                <a:solidFill>
                  <a:srgbClr val="569CD6"/>
                </a:solidFill>
                <a:latin typeface="Consolas"/>
              </a:rPr>
              <a:t>            case 5: cout &lt;&lt; "Thank you!" &lt;&lt; endl; break;</a:t>
            </a:r>
          </a:p>
          <a:p>
            <a:r>
              <a:rPr sz="1100">
                <a:solidFill>
                  <a:srgbClr val="4EC98E"/>
                </a:solidFill>
                <a:latin typeface="Consolas"/>
              </a:rPr>
              <a:t>            default: cout &lt;&lt; "Invalid choice!" &lt;&lt; endl;</a:t>
            </a:r>
          </a:p>
          <a:p>
            <a:r>
              <a:rPr sz="1100">
                <a:solidFill>
                  <a:srgbClr val="FFFFFF"/>
                </a:solidFill>
                <a:latin typeface="Consolas"/>
              </a:rPr>
              <a:t>        }</a:t>
            </a:r>
          </a:p>
          <a:p>
            <a:r>
              <a:rPr sz="1100">
                <a:solidFill>
                  <a:srgbClr val="FFFFFF"/>
                </a:solidFill>
                <a:latin typeface="Consolas"/>
              </a:rPr>
              <a:t/>
            </a:r>
          </a:p>
          <a:p>
            <a:r>
              <a:rPr sz="1100">
                <a:solidFill>
                  <a:srgbClr val="569CD6"/>
                </a:solidFill>
                <a:latin typeface="Consolas"/>
              </a:rPr>
              <a:t>    } while(choice != 5);</a:t>
            </a:r>
          </a:p>
          <a:p>
            <a:r>
              <a:rPr sz="1100">
                <a:solidFill>
                  <a:srgbClr val="FFFFFF"/>
                </a:solidFill>
                <a:latin typeface="Consolas"/>
              </a:rPr>
              <a:t/>
            </a:r>
          </a:p>
          <a:p>
            <a:r>
              <a:rPr sz="1100">
                <a:solidFill>
                  <a:srgbClr val="569CD6"/>
                </a:solidFill>
                <a:latin typeface="Consolas"/>
              </a:rPr>
              <a:t>    return 0;</a:t>
            </a:r>
          </a:p>
          <a:p>
            <a:r>
              <a:rPr sz="1100">
                <a:solidFill>
                  <a:srgbClr val="FFFFFF"/>
                </a:solidFill>
                <a:latin typeface="Consolas"/>
              </a:rPr>
              <a:t>}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79" y="1005840"/>
            <a:ext cx="4297680" cy="5669280"/>
          </a:xfrm>
          <a:prstGeom prst="rect">
            <a:avLst/>
          </a:prstGeom>
          <a:solidFill>
            <a:srgbClr val="101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79" y="1005840"/>
            <a:ext cx="4297680" cy="64008"/>
          </a:xfrm>
          <a:prstGeom prst="rect">
            <a:avLst/>
          </a:prstGeom>
          <a:solidFill>
            <a:srgbClr val="C9A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0" y="114300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9A02E"/>
                </a:solidFill>
                <a:latin typeface="Calibri"/>
              </a:rPr>
              <a:t>Key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1691640"/>
            <a:ext cx="3931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>
                <a:solidFill>
                  <a:srgbClr val="FFFFFF"/>
                </a:solidFill>
                <a:latin typeface="Calibri"/>
              </a:rPr>
              <a:t>  ▸  BankAccount object created in main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FFFFFF"/>
                </a:solidFill>
                <a:latin typeface="Calibri"/>
              </a:rPr>
              <a:t>  ▸  do-while loop keeps menu active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FFFFFF"/>
                </a:solidFill>
                <a:latin typeface="Calibri"/>
              </a:rPr>
              <a:t>  ▸  switch-case routes each choice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FFFFFF"/>
                </a:solidFill>
                <a:latin typeface="Calibri"/>
              </a:rPr>
              <a:t>  ▸  Loop exits when user selects 5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FFFFFF"/>
                </a:solidFill>
                <a:latin typeface="Calibri"/>
              </a:rPr>
              <a:t>  ▸  Encapsulation: all logic inside class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FFFFFF"/>
                </a:solidFill>
                <a:latin typeface="Calibri"/>
              </a:rPr>
              <a:t>  ▸  Simple, readable structure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D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2860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PROGRAM OUTPUT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9601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9A02E"/>
                </a:solidFill>
                <a:latin typeface="Calibri"/>
              </a:rPr>
              <a:t>Console screenshots from execution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3566160" cy="51206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463040"/>
            <a:ext cx="3566160" cy="45720"/>
          </a:xfrm>
          <a:prstGeom prst="rect">
            <a:avLst/>
          </a:prstGeom>
          <a:solidFill>
            <a:srgbClr val="C9A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5544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A02E"/>
                </a:solidFill>
                <a:latin typeface="Calibri"/>
              </a:rPr>
              <a:t>⚠  Without Account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965960"/>
            <a:ext cx="3383280" cy="44348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965960"/>
            <a:ext cx="3383280" cy="36576"/>
          </a:xfrm>
          <a:prstGeom prst="rect">
            <a:avLst/>
          </a:prstGeom>
          <a:solidFill>
            <a:srgbClr val="C9A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075688"/>
            <a:ext cx="310896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FFFFFF"/>
                </a:solidFill>
                <a:latin typeface="Consolas"/>
              </a:rPr>
              <a:t>===== BANK MANAGEMENT SYSTEM =====</a:t>
            </a:r>
          </a:p>
          <a:p>
            <a:r>
              <a:rPr sz="1050">
                <a:solidFill>
                  <a:srgbClr val="FFFFFF"/>
                </a:solidFill>
                <a:latin typeface="Consolas"/>
              </a:rPr>
              <a:t>1. Create Account</a:t>
            </a:r>
          </a:p>
          <a:p>
            <a:r>
              <a:rPr sz="1050">
                <a:solidFill>
                  <a:srgbClr val="FFFFFF"/>
                </a:solidFill>
                <a:latin typeface="Consolas"/>
              </a:rPr>
              <a:t>2. Deposit</a:t>
            </a:r>
          </a:p>
          <a:p>
            <a:r>
              <a:rPr sz="1050">
                <a:solidFill>
                  <a:srgbClr val="FFFFFF"/>
                </a:solidFill>
                <a:latin typeface="Consolas"/>
              </a:rPr>
              <a:t>3. Withdraw</a:t>
            </a:r>
          </a:p>
          <a:p>
            <a:r>
              <a:rPr sz="1050">
                <a:solidFill>
                  <a:srgbClr val="FFFFFF"/>
                </a:solidFill>
                <a:latin typeface="Consolas"/>
              </a:rPr>
              <a:t>4. Check Balance</a:t>
            </a:r>
          </a:p>
          <a:p>
            <a:r>
              <a:rPr sz="1050">
                <a:solidFill>
                  <a:srgbClr val="FFFFFF"/>
                </a:solidFill>
                <a:latin typeface="Consolas"/>
              </a:rPr>
              <a:t>5. Exit</a:t>
            </a:r>
          </a:p>
          <a:p>
            <a:r>
              <a:rPr sz="1050">
                <a:solidFill>
                  <a:srgbClr val="FFFFFF"/>
                </a:solidFill>
                <a:latin typeface="Consolas"/>
              </a:rPr>
              <a:t/>
            </a:r>
          </a:p>
          <a:p>
            <a:r>
              <a:rPr sz="1050">
                <a:solidFill>
                  <a:srgbClr val="FFFFFF"/>
                </a:solidFill>
                <a:latin typeface="Consolas"/>
              </a:rPr>
              <a:t>Enter your choice: 2</a:t>
            </a:r>
          </a:p>
          <a:p>
            <a:r>
              <a:rPr sz="1050">
                <a:solidFill>
                  <a:srgbClr val="FFFFFF"/>
                </a:solidFill>
                <a:latin typeface="Consolas"/>
              </a:rPr>
              <a:t/>
            </a:r>
          </a:p>
          <a:p>
            <a:r>
              <a:rPr sz="1050">
                <a:solidFill>
                  <a:srgbClr val="FFFFFF"/>
                </a:solidFill>
                <a:latin typeface="Consolas"/>
              </a:rPr>
              <a:t>No account available!</a:t>
            </a:r>
          </a:p>
          <a:p>
            <a:r>
              <a:rPr sz="1050">
                <a:solidFill>
                  <a:srgbClr val="FFFFFF"/>
                </a:solidFill>
                <a:latin typeface="Consolas"/>
              </a:rPr>
              <a:t>Please create an account</a:t>
            </a:r>
          </a:p>
          <a:p>
            <a:r>
              <a:rPr sz="1050">
                <a:solidFill>
                  <a:srgbClr val="FFFFFF"/>
                </a:solidFill>
                <a:latin typeface="Consolas"/>
              </a:rPr>
              <a:t>first.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60520" y="1463040"/>
            <a:ext cx="3840480" cy="51206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60520" y="1463040"/>
            <a:ext cx="3840480" cy="45720"/>
          </a:xfrm>
          <a:prstGeom prst="rect">
            <a:avLst/>
          </a:prstGeom>
          <a:solidFill>
            <a:srgbClr val="C9A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80" y="155448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A02E"/>
                </a:solidFill>
                <a:latin typeface="Calibri"/>
              </a:rPr>
              <a:t>✅  Create, Deposit &amp; Withdraw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51960" y="1965960"/>
            <a:ext cx="3657600" cy="44348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51960" y="1965960"/>
            <a:ext cx="3657600" cy="36576"/>
          </a:xfrm>
          <a:prstGeom prst="rect">
            <a:avLst/>
          </a:prstGeom>
          <a:solidFill>
            <a:srgbClr val="C9A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2075688"/>
            <a:ext cx="338328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FFFFFF"/>
                </a:solidFill>
                <a:latin typeface="Consolas"/>
              </a:rPr>
              <a:t>Enter your choice: 1</a:t>
            </a:r>
          </a:p>
          <a:p>
            <a:r>
              <a:rPr sz="1050">
                <a:solidFill>
                  <a:srgbClr val="FFFFFF"/>
                </a:solidFill>
                <a:latin typeface="Consolas"/>
              </a:rPr>
              <a:t/>
            </a:r>
          </a:p>
          <a:p>
            <a:r>
              <a:rPr sz="1050">
                <a:solidFill>
                  <a:srgbClr val="FFFFFF"/>
                </a:solidFill>
                <a:latin typeface="Consolas"/>
              </a:rPr>
              <a:t>Enter Account Holder Name: Ramya</a:t>
            </a:r>
          </a:p>
          <a:p>
            <a:r>
              <a:rPr sz="1050">
                <a:solidFill>
                  <a:srgbClr val="FFFFFF"/>
                </a:solidFill>
                <a:latin typeface="Consolas"/>
              </a:rPr>
              <a:t>Enter Account Number: 10234</a:t>
            </a:r>
          </a:p>
          <a:p>
            <a:r>
              <a:rPr sz="1050">
                <a:solidFill>
                  <a:srgbClr val="FFFFFF"/>
                </a:solidFill>
                <a:latin typeface="Consolas"/>
              </a:rPr>
              <a:t>Enter Initial Balance: 1000</a:t>
            </a:r>
          </a:p>
          <a:p>
            <a:r>
              <a:rPr sz="1050">
                <a:solidFill>
                  <a:srgbClr val="FFFFFF"/>
                </a:solidFill>
                <a:latin typeface="Consolas"/>
              </a:rPr>
              <a:t/>
            </a:r>
          </a:p>
          <a:p>
            <a:r>
              <a:rPr sz="1050">
                <a:solidFill>
                  <a:srgbClr val="FFFFFF"/>
                </a:solidFill>
                <a:latin typeface="Consolas"/>
              </a:rPr>
              <a:t>Account Created Successfully!</a:t>
            </a:r>
          </a:p>
          <a:p>
            <a:r>
              <a:rPr sz="1050">
                <a:solidFill>
                  <a:srgbClr val="FFFFFF"/>
                </a:solidFill>
                <a:latin typeface="Consolas"/>
              </a:rPr>
              <a:t/>
            </a:r>
          </a:p>
          <a:p>
            <a:r>
              <a:rPr sz="1050">
                <a:solidFill>
                  <a:srgbClr val="FFFFFF"/>
                </a:solidFill>
                <a:latin typeface="Consolas"/>
              </a:rPr>
              <a:t>Enter your choice: 2</a:t>
            </a:r>
          </a:p>
          <a:p>
            <a:r>
              <a:rPr sz="1050">
                <a:solidFill>
                  <a:srgbClr val="FFFFFF"/>
                </a:solidFill>
                <a:latin typeface="Consolas"/>
              </a:rPr>
              <a:t>Enter amount to deposit: 500</a:t>
            </a:r>
          </a:p>
          <a:p>
            <a:r>
              <a:rPr sz="1050">
                <a:solidFill>
                  <a:srgbClr val="FFFFFF"/>
                </a:solidFill>
                <a:latin typeface="Consolas"/>
              </a:rPr>
              <a:t>Deposit Successful!</a:t>
            </a:r>
          </a:p>
          <a:p>
            <a:r>
              <a:rPr sz="1050">
                <a:solidFill>
                  <a:srgbClr val="FFFFFF"/>
                </a:solidFill>
                <a:latin typeface="Consolas"/>
              </a:rPr>
              <a:t>Current Balance: 1500</a:t>
            </a:r>
          </a:p>
          <a:p>
            <a:r>
              <a:rPr sz="1050">
                <a:solidFill>
                  <a:srgbClr val="FFFFFF"/>
                </a:solidFill>
                <a:latin typeface="Consolas"/>
              </a:rPr>
              <a:t/>
            </a:r>
          </a:p>
          <a:p>
            <a:r>
              <a:rPr sz="1050">
                <a:solidFill>
                  <a:srgbClr val="FFFFFF"/>
                </a:solidFill>
                <a:latin typeface="Consolas"/>
              </a:rPr>
              <a:t>Enter your choice: 3</a:t>
            </a:r>
          </a:p>
          <a:p>
            <a:r>
              <a:rPr sz="1050">
                <a:solidFill>
                  <a:srgbClr val="FFFFFF"/>
                </a:solidFill>
                <a:latin typeface="Consolas"/>
              </a:rPr>
              <a:t>Enter amount to withdraw: 200</a:t>
            </a:r>
          </a:p>
          <a:p>
            <a:r>
              <a:rPr sz="1050">
                <a:solidFill>
                  <a:srgbClr val="FFFFFF"/>
                </a:solidFill>
                <a:latin typeface="Consolas"/>
              </a:rPr>
              <a:t>Withdrawal Successful!</a:t>
            </a:r>
          </a:p>
          <a:p>
            <a:r>
              <a:rPr sz="1050">
                <a:solidFill>
                  <a:srgbClr val="FFFFFF"/>
                </a:solidFill>
                <a:latin typeface="Consolas"/>
              </a:rPr>
              <a:t>Remaining Balance: 1300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1463040"/>
            <a:ext cx="3566160" cy="51206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1463040"/>
            <a:ext cx="3566160" cy="45720"/>
          </a:xfrm>
          <a:prstGeom prst="rect">
            <a:avLst/>
          </a:prstGeom>
          <a:solidFill>
            <a:srgbClr val="C9A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60" y="15544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A02E"/>
                </a:solidFill>
                <a:latin typeface="Calibri"/>
              </a:rPr>
              <a:t>💰  Balance Check &amp; Exit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21040" y="1965960"/>
            <a:ext cx="3383280" cy="44348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321040" y="1965960"/>
            <a:ext cx="3383280" cy="36576"/>
          </a:xfrm>
          <a:prstGeom prst="rect">
            <a:avLst/>
          </a:prstGeom>
          <a:solidFill>
            <a:srgbClr val="C9A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58200" y="2075688"/>
            <a:ext cx="310896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FFFFFF"/>
                </a:solidFill>
                <a:latin typeface="Consolas"/>
              </a:rPr>
              <a:t>Enter your choice: 4</a:t>
            </a:r>
          </a:p>
          <a:p>
            <a:r>
              <a:rPr sz="1050">
                <a:solidFill>
                  <a:srgbClr val="FFFFFF"/>
                </a:solidFill>
                <a:latin typeface="Consolas"/>
              </a:rPr>
              <a:t/>
            </a:r>
          </a:p>
          <a:p>
            <a:r>
              <a:rPr sz="1050">
                <a:solidFill>
                  <a:srgbClr val="FFFFFF"/>
                </a:solidFill>
                <a:latin typeface="Consolas"/>
              </a:rPr>
              <a:t>Current Balance: 1300</a:t>
            </a:r>
          </a:p>
          <a:p>
            <a:r>
              <a:rPr sz="1050">
                <a:solidFill>
                  <a:srgbClr val="FFFFFF"/>
                </a:solidFill>
                <a:latin typeface="Consolas"/>
              </a:rPr>
              <a:t/>
            </a:r>
          </a:p>
          <a:p>
            <a:r>
              <a:rPr sz="1050">
                <a:solidFill>
                  <a:srgbClr val="FFFFFF"/>
                </a:solidFill>
                <a:latin typeface="Consolas"/>
              </a:rPr>
              <a:t/>
            </a:r>
          </a:p>
          <a:p>
            <a:r>
              <a:rPr sz="1050">
                <a:solidFill>
                  <a:srgbClr val="FFFFFF"/>
                </a:solidFill>
                <a:latin typeface="Consolas"/>
              </a:rPr>
              <a:t>Enter your choice: 5</a:t>
            </a:r>
          </a:p>
          <a:p>
            <a:r>
              <a:rPr sz="1050">
                <a:solidFill>
                  <a:srgbClr val="FFFFFF"/>
                </a:solidFill>
                <a:latin typeface="Consolas"/>
              </a:rPr>
              <a:t/>
            </a:r>
          </a:p>
          <a:p>
            <a:r>
              <a:rPr sz="1050">
                <a:solidFill>
                  <a:srgbClr val="FFFFFF"/>
                </a:solidFill>
                <a:latin typeface="Consolas"/>
              </a:rPr>
              <a:t>Thank you!</a:t>
            </a:r>
          </a:p>
          <a:p>
            <a:r>
              <a:rPr sz="1050">
                <a:solidFill>
                  <a:srgbClr val="FFFFFF"/>
                </a:solidFill>
                <a:latin typeface="Consolas"/>
              </a:rPr>
              <a:t/>
            </a:r>
          </a:p>
          <a:p>
            <a:r>
              <a:rPr sz="1050">
                <a:solidFill>
                  <a:srgbClr val="FFFFFF"/>
                </a:solidFill>
                <a:latin typeface="Consolas"/>
              </a:rPr>
              <a:t>[Program Exits]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7432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43000"/>
            <a:ext cx="10058400" cy="45720"/>
          </a:xfrm>
          <a:prstGeom prst="rect">
            <a:avLst/>
          </a:prstGeom>
          <a:solidFill>
            <a:srgbClr val="C9A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11247120" cy="1005840"/>
          </a:xfrm>
          <a:prstGeom prst="rect">
            <a:avLst/>
          </a:prstGeom>
          <a:solidFill>
            <a:srgbClr val="142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73152" cy="1005840"/>
          </a:xfrm>
          <a:prstGeom prst="rect">
            <a:avLst/>
          </a:prstGeom>
          <a:solidFill>
            <a:srgbClr val="C9A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600200"/>
            <a:ext cx="548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C9A02E"/>
                </a:solidFill>
                <a:latin typeface="Calibri"/>
              </a:rPr>
              <a:t>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6459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Implemented all core banking operations successfully using C++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651760"/>
            <a:ext cx="11247120" cy="1005840"/>
          </a:xfrm>
          <a:prstGeom prst="rect">
            <a:avLst/>
          </a:prstGeom>
          <a:solidFill>
            <a:srgbClr val="142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651760"/>
            <a:ext cx="73152" cy="1005840"/>
          </a:xfrm>
          <a:prstGeom prst="rect">
            <a:avLst/>
          </a:prstGeom>
          <a:solidFill>
            <a:srgbClr val="C9A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788920"/>
            <a:ext cx="548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C9A02E"/>
                </a:solidFill>
                <a:latin typeface="Calibri"/>
              </a:rPr>
              <a:t>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8346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Demonstrated OOP concepts: encapsulation, classes, and methods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840480"/>
            <a:ext cx="11247120" cy="1005840"/>
          </a:xfrm>
          <a:prstGeom prst="rect">
            <a:avLst/>
          </a:prstGeom>
          <a:solidFill>
            <a:srgbClr val="142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840480"/>
            <a:ext cx="73152" cy="1005840"/>
          </a:xfrm>
          <a:prstGeom prst="rect">
            <a:avLst/>
          </a:prstGeom>
          <a:solidFill>
            <a:srgbClr val="C9A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977640"/>
            <a:ext cx="548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C9A02E"/>
                </a:solidFill>
                <a:latin typeface="Calibri"/>
              </a:rPr>
              <a:t>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0233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Added account existence validation before every operation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029200"/>
            <a:ext cx="11247120" cy="1005840"/>
          </a:xfrm>
          <a:prstGeom prst="rect">
            <a:avLst/>
          </a:prstGeom>
          <a:solidFill>
            <a:srgbClr val="142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5029200"/>
            <a:ext cx="73152" cy="1005840"/>
          </a:xfrm>
          <a:prstGeom prst="rect">
            <a:avLst/>
          </a:prstGeom>
          <a:solidFill>
            <a:srgbClr val="C9A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5166360"/>
            <a:ext cx="548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C9A02E"/>
                </a:solidFill>
                <a:latin typeface="Calibri"/>
              </a:rPr>
              <a:t>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2120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Ensures a logical, user-friendly flow of operations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26364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B7C93"/>
                </a:solidFill>
                <a:latin typeface="Calibri"/>
              </a:rPr>
              <a:t>The project successfully demonstrates a working Bank Management System using core C++ and OOP principles.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D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743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FUTURE ENHANCEMENTS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058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9A02E"/>
                </a:solidFill>
                <a:latin typeface="Calibri"/>
              </a:rPr>
              <a:t>Roadmap for next version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600200"/>
            <a:ext cx="365760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600200"/>
            <a:ext cx="3657600" cy="73152"/>
          </a:xfrm>
          <a:prstGeom prst="rect">
            <a:avLst/>
          </a:prstGeom>
          <a:solidFill>
            <a:srgbClr val="C9A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7830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D1B4A"/>
                </a:solidFill>
                <a:latin typeface="Calibri"/>
              </a:rPr>
              <a:t>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78308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B4A"/>
                </a:solidFill>
                <a:latin typeface="Calibri"/>
              </a:rPr>
              <a:t>PIN Authentication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350008"/>
            <a:ext cx="33832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4A"/>
                </a:solidFill>
                <a:latin typeface="Calibri"/>
              </a:rPr>
              <a:t>Add secure 4-digit PIN login for account protection and user identity verification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600200"/>
            <a:ext cx="365760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600200"/>
            <a:ext cx="3657600" cy="73152"/>
          </a:xfrm>
          <a:prstGeom prst="rect">
            <a:avLst/>
          </a:prstGeom>
          <a:solidFill>
            <a:srgbClr val="C9A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17830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D1B4A"/>
                </a:solidFill>
                <a:latin typeface="Calibri"/>
              </a:rPr>
              <a:t>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74920" y="178308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B4A"/>
                </a:solidFill>
                <a:latin typeface="Calibri"/>
              </a:rPr>
              <a:t>File Handling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2350008"/>
            <a:ext cx="33832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4A"/>
                </a:solidFill>
                <a:latin typeface="Calibri"/>
              </a:rPr>
              <a:t>Persist account data across sessions using file I/O so records are not lost on exit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83879" y="1600200"/>
            <a:ext cx="365760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83879" y="1600200"/>
            <a:ext cx="3657600" cy="73152"/>
          </a:xfrm>
          <a:prstGeom prst="rect">
            <a:avLst/>
          </a:prstGeom>
          <a:solidFill>
            <a:srgbClr val="C9A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17830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D1B4A"/>
                </a:solidFill>
                <a:latin typeface="Calibri"/>
              </a:rPr>
              <a:t>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19" y="178308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B4A"/>
                </a:solidFill>
                <a:latin typeface="Calibri"/>
              </a:rPr>
              <a:t>GUI Interface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350008"/>
            <a:ext cx="33832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4A"/>
                </a:solidFill>
                <a:latin typeface="Calibri"/>
              </a:rPr>
              <a:t>Develop a graphical user interface using Qt or similar frameworks for better UX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4023360"/>
            <a:ext cx="365760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" y="4023360"/>
            <a:ext cx="3657600" cy="73152"/>
          </a:xfrm>
          <a:prstGeom prst="rect">
            <a:avLst/>
          </a:prstGeom>
          <a:solidFill>
            <a:srgbClr val="C9A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2062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D1B4A"/>
                </a:solidFill>
                <a:latin typeface="Calibri"/>
              </a:rPr>
              <a:t>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420624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B4A"/>
                </a:solidFill>
                <a:latin typeface="Calibri"/>
              </a:rPr>
              <a:t>Multi-User System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773168"/>
            <a:ext cx="33832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4A"/>
                </a:solidFill>
                <a:latin typeface="Calibri"/>
              </a:rPr>
              <a:t>Support multiple accounts simultaneously with unique account numbers and profiles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97680" y="4023360"/>
            <a:ext cx="365760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97680" y="4023360"/>
            <a:ext cx="3657600" cy="73152"/>
          </a:xfrm>
          <a:prstGeom prst="rect">
            <a:avLst/>
          </a:prstGeom>
          <a:solidFill>
            <a:srgbClr val="C9A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34840" y="42062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D1B4A"/>
                </a:solidFill>
                <a:latin typeface="Calibri"/>
              </a:rPr>
              <a:t>📊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74920" y="420624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B4A"/>
                </a:solidFill>
                <a:latin typeface="Calibri"/>
              </a:rPr>
              <a:t>Transaction History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34840" y="4773168"/>
            <a:ext cx="33832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4A"/>
                </a:solidFill>
                <a:latin typeface="Calibri"/>
              </a:rPr>
              <a:t>Log and display full transaction history with timestamps for each account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83879" y="4023360"/>
            <a:ext cx="365760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83879" y="4023360"/>
            <a:ext cx="3657600" cy="73152"/>
          </a:xfrm>
          <a:prstGeom prst="rect">
            <a:avLst/>
          </a:prstGeom>
          <a:solidFill>
            <a:srgbClr val="C9A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21040" y="42062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D1B4A"/>
                </a:solidFill>
                <a:latin typeface="Calibri"/>
              </a:rPr>
              <a:t>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61119" y="420624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B4A"/>
                </a:solidFill>
                <a:latin typeface="Calibri"/>
              </a:rPr>
              <a:t>Network Support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4773168"/>
            <a:ext cx="33832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4A"/>
                </a:solidFill>
                <a:latin typeface="Calibri"/>
              </a:rPr>
              <a:t>Extend to a client-server model enabling remote banking via network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9A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4846320" cy="6858000"/>
          </a:xfrm>
          <a:prstGeom prst="rect">
            <a:avLst/>
          </a:prstGeom>
          <a:solidFill>
            <a:srgbClr val="1A2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47488" y="0"/>
            <a:ext cx="7141464" cy="6858000"/>
          </a:xfrm>
          <a:prstGeom prst="rect">
            <a:avLst/>
          </a:prstGeom>
          <a:solidFill>
            <a:srgbClr val="07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bank_buil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360" y="228600"/>
            <a:ext cx="6675120" cy="48463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166360" y="228600"/>
            <a:ext cx="6675120" cy="54864"/>
          </a:xfrm>
          <a:prstGeom prst="rect">
            <a:avLst/>
          </a:prstGeom>
          <a:solidFill>
            <a:srgbClr val="C9A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166360" y="228600"/>
            <a:ext cx="36576" cy="4846320"/>
          </a:xfrm>
          <a:prstGeom prst="rect">
            <a:avLst/>
          </a:prstGeom>
          <a:solidFill>
            <a:srgbClr val="C9A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00" b="1" i="0">
                <a:solidFill>
                  <a:srgbClr val="FFFFFF"/>
                </a:solidFill>
                <a:latin typeface="Calibri"/>
              </a:rPr>
              <a:t>THANK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7744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00" b="1" i="0">
                <a:solidFill>
                  <a:srgbClr val="C9A02E"/>
                </a:solidFill>
                <a:latin typeface="Calibri"/>
              </a:rPr>
              <a:t>YOU!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703320"/>
            <a:ext cx="4389120" cy="54864"/>
          </a:xfrm>
          <a:prstGeom prst="rect">
            <a:avLst/>
          </a:prstGeom>
          <a:solidFill>
            <a:srgbClr val="C9A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8862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B7C93"/>
                </a:solidFill>
                <a:latin typeface="Calibri"/>
              </a:rPr>
              <a:t>Bank Management System  |  C++ OOP Project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31596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CH. NAGA HASINI  &amp;  N. VYSHNAVI SAI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7091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C93"/>
                </a:solidFill>
                <a:latin typeface="Calibri"/>
              </a:rPr>
              <a:t>AP25110070302  &amp;  AP25110070855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