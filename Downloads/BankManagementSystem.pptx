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C947"/>
          </a:solidFill>
          <a:ln w="12700">
            <a:solidFill>
              <a:srgbClr val="FFC94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45720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Management System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1645920" y="12344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of the Project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74320" y="1920240"/>
            <a:ext cx="4114800" cy="1097280"/>
          </a:xfrm>
          <a:prstGeom prst="rect">
            <a:avLst/>
          </a:prstGeom>
          <a:solidFill>
            <a:srgbClr val="1A2E52"/>
          </a:solidFill>
          <a:ln w="12700">
            <a:solidFill>
              <a:srgbClr val="2A3F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4028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205740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using C++ to simulate real banking operations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709160" y="1920240"/>
            <a:ext cx="4114800" cy="1097280"/>
          </a:xfrm>
          <a:prstGeom prst="rect">
            <a:avLst/>
          </a:prstGeom>
          <a:solidFill>
            <a:srgbClr val="1A2E52"/>
          </a:solidFill>
          <a:ln w="12700">
            <a:solidFill>
              <a:srgbClr val="2A3F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24028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40680" y="205740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 via PIN authentication system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274320" y="3291840"/>
            <a:ext cx="4114800" cy="1097280"/>
          </a:xfrm>
          <a:prstGeom prst="rect">
            <a:avLst/>
          </a:prstGeom>
          <a:solidFill>
            <a:srgbClr val="1A2E52"/>
          </a:solidFill>
          <a:ln w="12700">
            <a:solidFill>
              <a:srgbClr val="2A3F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611880"/>
            <a:ext cx="457200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05840" y="342900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data storage through file handling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4709160" y="3291840"/>
            <a:ext cx="4114800" cy="1097280"/>
          </a:xfrm>
          <a:prstGeom prst="rect">
            <a:avLst/>
          </a:prstGeom>
          <a:solidFill>
            <a:srgbClr val="1A2E52"/>
          </a:solidFill>
          <a:ln w="12700">
            <a:solidFill>
              <a:srgbClr val="2A3F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611880"/>
            <a:ext cx="457200" cy="4572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440680" y="342900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Console-based interactive banking interface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</a:rPr>
              <a:t>1 / 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417320"/>
            <a:ext cx="4297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85ADB"/>
          </a:solidFill>
          <a:ln w="12700">
            <a:solidFill>
              <a:srgbClr val="185A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43000" y="155448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designed to manage core banking operations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185ADB"/>
          </a:solidFill>
          <a:ln w="12700">
            <a:solidFill>
              <a:srgbClr val="185A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43000" y="306324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Console-based interface — simple and user-friendly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937760" y="1417320"/>
            <a:ext cx="4297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120640" y="1600200"/>
            <a:ext cx="457200" cy="457200"/>
          </a:xfrm>
          <a:prstGeom prst="ellipse">
            <a:avLst/>
          </a:prstGeom>
          <a:solidFill>
            <a:srgbClr val="185ADB"/>
          </a:solidFill>
          <a:ln w="12700">
            <a:solidFill>
              <a:srgbClr val="185AD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206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715000" y="155448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deposit, withdrawal &amp; balance enquiries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120640" y="3108960"/>
            <a:ext cx="457200" cy="457200"/>
          </a:xfrm>
          <a:prstGeom prst="ellipse">
            <a:avLst/>
          </a:prstGeom>
          <a:solidFill>
            <a:srgbClr val="185ADB"/>
          </a:solidFill>
          <a:ln w="12700">
            <a:solidFill>
              <a:srgbClr val="185AD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2064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715000" y="306324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fundamental C++ programming concepts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C947"/>
          </a:solidFill>
          <a:ln w="12700">
            <a:solidFill>
              <a:srgbClr val="FFC94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9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7432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274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274320" y="1234440"/>
            <a:ext cx="2651760" cy="1325880"/>
          </a:xfrm>
          <a:prstGeom prst="rect">
            <a:avLst/>
          </a:prstGeom>
          <a:solidFill>
            <a:srgbClr val="1A2E52"/>
          </a:solidFill>
          <a:ln w="12700">
            <a:solidFill>
              <a:srgbClr val="2A3F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365760" y="1325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65760" y="1645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65760" y="19476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Replicates a basic banking system environment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154680" y="1234440"/>
            <a:ext cx="2651760" cy="1325880"/>
          </a:xfrm>
          <a:prstGeom prst="rect">
            <a:avLst/>
          </a:prstGeom>
          <a:solidFill>
            <a:srgbClr val="1A2E52"/>
          </a:solidFill>
          <a:ln w="12700">
            <a:solidFill>
              <a:srgbClr val="2A3F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246120" y="1325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246120" y="1645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246120" y="19476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secure user transactions with full validation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035040" y="1234440"/>
            <a:ext cx="2651760" cy="1325880"/>
          </a:xfrm>
          <a:prstGeom prst="rect">
            <a:avLst/>
          </a:prstGeom>
          <a:solidFill>
            <a:srgbClr val="1A2E52"/>
          </a:solidFill>
          <a:ln w="12700">
            <a:solidFill>
              <a:srgbClr val="2A3F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126480" y="1325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126480" y="1645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126480" y="19476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authentication safeguards user data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623060" y="2743200"/>
            <a:ext cx="2651760" cy="1325880"/>
          </a:xfrm>
          <a:prstGeom prst="rect">
            <a:avLst/>
          </a:prstGeom>
          <a:solidFill>
            <a:srgbClr val="1A2E52"/>
          </a:solidFill>
          <a:ln w="12700">
            <a:solidFill>
              <a:srgbClr val="2A3F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1714500" y="2834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714500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714500" y="345643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 stores and retrieves data reliably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03420" y="2743200"/>
            <a:ext cx="2651760" cy="1325880"/>
          </a:xfrm>
          <a:prstGeom prst="rect">
            <a:avLst/>
          </a:prstGeom>
          <a:solidFill>
            <a:srgbClr val="1A2E52"/>
          </a:solidFill>
          <a:ln w="12700">
            <a:solidFill>
              <a:srgbClr val="2A3F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594860" y="2834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594860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94860" y="345643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understanding between code and real-world banking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Hardware Requirements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80160"/>
            <a:ext cx="4023360" cy="502920"/>
          </a:xfrm>
          <a:prstGeom prst="rect">
            <a:avLst/>
          </a:prstGeom>
          <a:solidFill>
            <a:srgbClr val="185ADB"/>
          </a:solidFill>
          <a:ln w="12700">
            <a:solidFill>
              <a:srgbClr val="185A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801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💻  SOFTWARE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5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Compiler (Turbo C++ / Code::Blocks / VS Code)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5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System: Windows / Linux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5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editor with syntax highlighting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28016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280160"/>
            <a:ext cx="4023360" cy="502920"/>
          </a:xfrm>
          <a:prstGeom prst="rect">
            <a:avLst/>
          </a:prstGeom>
          <a:solidFill>
            <a:srgbClr val="FFC947"/>
          </a:solidFill>
          <a:ln w="12700">
            <a:solidFill>
              <a:srgbClr val="FFC9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2801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931"/>
                </a:solidFill>
              </a:rPr>
              <a:t>🖥️  HARDWARE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920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4 GB RAM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2697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Processor: Intel i3 or equivalent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34747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1A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computer / laptop system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C947"/>
          </a:solidFill>
          <a:ln w="12700">
            <a:solidFill>
              <a:srgbClr val="FFC9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9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2286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274320" y="1188720"/>
            <a:ext cx="1280160" cy="1371600"/>
          </a:xfrm>
          <a:prstGeom prst="rect">
            <a:avLst/>
          </a:prstGeom>
          <a:solidFill>
            <a:srgbClr val="1A2E52"/>
          </a:solidFill>
          <a:ln w="12700">
            <a:solidFill>
              <a:srgbClr val="2A3F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85800" y="1280160"/>
            <a:ext cx="457200" cy="457200"/>
          </a:xfrm>
          <a:prstGeom prst="ellipse">
            <a:avLst/>
          </a:prstGeom>
          <a:solidFill>
            <a:srgbClr val="FFC947"/>
          </a:solidFill>
          <a:ln w="12700">
            <a:solidFill>
              <a:srgbClr val="FFC94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93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1828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21488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PIN credentials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572768" y="1810512"/>
            <a:ext cx="137160" cy="137160"/>
          </a:xfrm>
          <a:prstGeom prst="rect">
            <a:avLst/>
          </a:prstGeom>
          <a:solidFill>
            <a:srgbClr val="FFC947"/>
          </a:solidFill>
          <a:ln w="12700">
            <a:solidFill>
              <a:srgbClr val="FFC94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737360" y="1188720"/>
            <a:ext cx="1280160" cy="1371600"/>
          </a:xfrm>
          <a:prstGeom prst="rect">
            <a:avLst/>
          </a:prstGeom>
          <a:solidFill>
            <a:srgbClr val="1A2E52"/>
          </a:solidFill>
          <a:ln w="12700">
            <a:solidFill>
              <a:srgbClr val="2A3F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148840" y="1280160"/>
            <a:ext cx="457200" cy="457200"/>
          </a:xfrm>
          <a:prstGeom prst="ellipse">
            <a:avLst/>
          </a:prstGeom>
          <a:solidFill>
            <a:srgbClr val="FFC947"/>
          </a:solidFill>
          <a:ln w="12700">
            <a:solidFill>
              <a:srgbClr val="FFC94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14884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93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737360" y="1828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Display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737360" y="21488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 interface loads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035808" y="1810512"/>
            <a:ext cx="137160" cy="137160"/>
          </a:xfrm>
          <a:prstGeom prst="rect">
            <a:avLst/>
          </a:prstGeom>
          <a:solidFill>
            <a:srgbClr val="FFC947"/>
          </a:solidFill>
          <a:ln w="12700">
            <a:solidFill>
              <a:srgbClr val="FFC94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00400" y="1188720"/>
            <a:ext cx="1280160" cy="1371600"/>
          </a:xfrm>
          <a:prstGeom prst="rect">
            <a:avLst/>
          </a:prstGeom>
          <a:solidFill>
            <a:srgbClr val="1A2E52"/>
          </a:solidFill>
          <a:ln w="12700">
            <a:solidFill>
              <a:srgbClr val="2A3F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611880" y="1280160"/>
            <a:ext cx="457200" cy="457200"/>
          </a:xfrm>
          <a:prstGeom prst="ellipse">
            <a:avLst/>
          </a:prstGeom>
          <a:solidFill>
            <a:srgbClr val="FFC947"/>
          </a:solidFill>
          <a:ln w="12700">
            <a:solidFill>
              <a:srgbClr val="FFC94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1188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93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200400" y="1828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Op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200400" y="21488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picks an operation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498848" y="1810512"/>
            <a:ext cx="137160" cy="137160"/>
          </a:xfrm>
          <a:prstGeom prst="rect">
            <a:avLst/>
          </a:prstGeom>
          <a:solidFill>
            <a:srgbClr val="FFC947"/>
          </a:solidFill>
          <a:ln w="12700">
            <a:solidFill>
              <a:srgbClr val="FFC94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63440" y="1188720"/>
            <a:ext cx="1280160" cy="1371600"/>
          </a:xfrm>
          <a:prstGeom prst="rect">
            <a:avLst/>
          </a:prstGeom>
          <a:solidFill>
            <a:srgbClr val="1A2E52"/>
          </a:solidFill>
          <a:ln w="12700">
            <a:solidFill>
              <a:srgbClr val="2A3F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074920" y="1280160"/>
            <a:ext cx="457200" cy="457200"/>
          </a:xfrm>
          <a:prstGeom prst="ellipse">
            <a:avLst/>
          </a:prstGeom>
          <a:solidFill>
            <a:srgbClr val="FFC947"/>
          </a:solidFill>
          <a:ln w="12700">
            <a:solidFill>
              <a:srgbClr val="FFC94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7492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931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663440" y="1828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663440" y="21488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validates request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961888" y="1810512"/>
            <a:ext cx="137160" cy="137160"/>
          </a:xfrm>
          <a:prstGeom prst="rect">
            <a:avLst/>
          </a:prstGeom>
          <a:solidFill>
            <a:srgbClr val="FFC947"/>
          </a:solidFill>
          <a:ln w="12700">
            <a:solidFill>
              <a:srgbClr val="FFC94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126480" y="1188720"/>
            <a:ext cx="1280160" cy="1371600"/>
          </a:xfrm>
          <a:prstGeom prst="rect">
            <a:avLst/>
          </a:prstGeom>
          <a:solidFill>
            <a:srgbClr val="1A2E52"/>
          </a:solidFill>
          <a:ln w="12700">
            <a:solidFill>
              <a:srgbClr val="2A3F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537960" y="1280160"/>
            <a:ext cx="457200" cy="457200"/>
          </a:xfrm>
          <a:prstGeom prst="ellipse">
            <a:avLst/>
          </a:prstGeom>
          <a:solidFill>
            <a:srgbClr val="FFC947"/>
          </a:solidFill>
          <a:ln w="12700">
            <a:solidFill>
              <a:srgbClr val="FFC94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3796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931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126480" y="1828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Update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126480" y="21488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stored via file I/O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7424928" y="1810512"/>
            <a:ext cx="137160" cy="137160"/>
          </a:xfrm>
          <a:prstGeom prst="rect">
            <a:avLst/>
          </a:prstGeom>
          <a:solidFill>
            <a:srgbClr val="FFC947"/>
          </a:solidFill>
          <a:ln w="12700">
            <a:solidFill>
              <a:srgbClr val="FFC94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589520" y="1188720"/>
            <a:ext cx="1280160" cy="1371600"/>
          </a:xfrm>
          <a:prstGeom prst="rect">
            <a:avLst/>
          </a:prstGeom>
          <a:solidFill>
            <a:srgbClr val="1A2E52"/>
          </a:solidFill>
          <a:ln w="12700">
            <a:solidFill>
              <a:srgbClr val="2A3F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8001000" y="1280160"/>
            <a:ext cx="457200" cy="457200"/>
          </a:xfrm>
          <a:prstGeom prst="ellipse">
            <a:avLst/>
          </a:prstGeom>
          <a:solidFill>
            <a:srgbClr val="FFC947"/>
          </a:solidFill>
          <a:ln w="12700">
            <a:solidFill>
              <a:srgbClr val="FFC94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0010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931"/>
                </a:solidFill>
              </a:rPr>
              <a:t>6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7589520" y="1828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7589520" y="21488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shown on screen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274320" y="2834640"/>
            <a:ext cx="8595360" cy="1920240"/>
          </a:xfrm>
          <a:prstGeom prst="rect">
            <a:avLst/>
          </a:prstGeom>
          <a:solidFill>
            <a:srgbClr val="1A2E52"/>
          </a:solidFill>
          <a:ln w="12700">
            <a:solidFill>
              <a:srgbClr val="2A3F6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5720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947"/>
                </a:solidFill>
              </a:rPr>
              <a:t>How it works: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457200" y="3310128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authenticates the user with a PIN. Upon success, a </a:t>
            </a:r>
            <a:pPr indent="0" marL="0">
              <a:buNone/>
            </a:pPr>
            <a:r>
              <a:rPr lang="en-US" sz="12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 interface </a:t>
            </a:r>
            <a:pPr indent="0" marL="0">
              <a:buNone/>
            </a:pPr>
            <a:r>
              <a:rPr lang="en-US" sz="1200" dirty="0">
                <a:solidFill>
                  <a:srgbClr val="B8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presents available operations. Each selection triggers file I/O to persist data, ensuring results survive session restarts.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Diagram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011680" cy="502920"/>
          </a:xfrm>
          <a:prstGeom prst="roundRect">
            <a:avLst>
              <a:gd name="adj" fmla="val 21818"/>
            </a:avLst>
          </a:prstGeom>
          <a:solidFill>
            <a:srgbClr val="0EA76A"/>
          </a:solidFill>
          <a:ln w="12700">
            <a:solidFill>
              <a:srgbClr val="0EA7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88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START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280160" y="1691640"/>
            <a:ext cx="182880" cy="164592"/>
          </a:xfrm>
          <a:prstGeom prst="rect">
            <a:avLst/>
          </a:prstGeom>
          <a:solidFill>
            <a:srgbClr val="185ADB"/>
          </a:solidFill>
          <a:ln w="12700">
            <a:solidFill>
              <a:srgbClr val="185A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74520"/>
            <a:ext cx="201168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8745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931"/>
                </a:solidFill>
              </a:rPr>
              <a:t>Enter PIN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80160" y="2377440"/>
            <a:ext cx="182880" cy="164592"/>
          </a:xfrm>
          <a:prstGeom prst="rect">
            <a:avLst/>
          </a:prstGeom>
          <a:solidFill>
            <a:srgbClr val="185ADB"/>
          </a:solidFill>
          <a:ln w="12700">
            <a:solidFill>
              <a:srgbClr val="185A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560320"/>
            <a:ext cx="2011680" cy="502920"/>
          </a:xfrm>
          <a:prstGeom prst="roundRect">
            <a:avLst>
              <a:gd name="adj" fmla="val 21818"/>
            </a:avLst>
          </a:prstGeom>
          <a:solidFill>
            <a:srgbClr val="FFC947"/>
          </a:solidFill>
          <a:ln w="12700">
            <a:solidFill>
              <a:srgbClr val="FFC9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25603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931"/>
                </a:solidFill>
              </a:rPr>
              <a:t>Valid PIN?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280160" y="3063240"/>
            <a:ext cx="182880" cy="164592"/>
          </a:xfrm>
          <a:prstGeom prst="rect">
            <a:avLst/>
          </a:prstGeom>
          <a:solidFill>
            <a:srgbClr val="185ADB"/>
          </a:solidFill>
          <a:ln w="12700">
            <a:solidFill>
              <a:srgbClr val="185A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246120"/>
            <a:ext cx="201168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246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931"/>
                </a:solidFill>
              </a:rPr>
              <a:t>Display Menu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280160" y="3749040"/>
            <a:ext cx="182880" cy="164592"/>
          </a:xfrm>
          <a:prstGeom prst="rect">
            <a:avLst/>
          </a:prstGeom>
          <a:solidFill>
            <a:srgbClr val="185ADB"/>
          </a:solidFill>
          <a:ln w="12700">
            <a:solidFill>
              <a:srgbClr val="185A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931920"/>
            <a:ext cx="201168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931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931"/>
                </a:solidFill>
              </a:rPr>
              <a:t>Choose Op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60320" y="2679192"/>
            <a:ext cx="548640" cy="2743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263347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</a:rPr>
              <a:t>NO → EXIT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0" y="1371600"/>
            <a:ext cx="2194560" cy="548640"/>
          </a:xfrm>
          <a:prstGeom prst="roundRect">
            <a:avLst>
              <a:gd name="adj" fmla="val 20000"/>
            </a:avLst>
          </a:prstGeom>
          <a:solidFill>
            <a:srgbClr val="0EA76A"/>
          </a:solidFill>
          <a:ln w="12700">
            <a:solidFill>
              <a:srgbClr val="0EA7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0" y="1371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💰  Deposit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0" y="2286000"/>
            <a:ext cx="2194560" cy="548640"/>
          </a:xfrm>
          <a:prstGeom prst="roundRect">
            <a:avLst>
              <a:gd name="adj" fmla="val 20000"/>
            </a:avLst>
          </a:prstGeom>
          <a:solidFill>
            <a:srgbClr val="185ADB"/>
          </a:solidFill>
          <a:ln w="12700">
            <a:solidFill>
              <a:srgbClr val="185A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0" y="2286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🏧  Withdraw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0" y="3200400"/>
            <a:ext cx="2194560" cy="548640"/>
          </a:xfrm>
          <a:prstGeom prst="roundRect">
            <a:avLst>
              <a:gd name="adj" fmla="val 20000"/>
            </a:avLst>
          </a:prstGeom>
          <a:solidFill>
            <a:srgbClr val="FFC947"/>
          </a:solidFill>
          <a:ln w="12700">
            <a:solidFill>
              <a:srgbClr val="FFC9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0" y="3200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931"/>
                </a:solidFill>
              </a:rPr>
              <a:t>📊  Check Balance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83680" y="1371600"/>
            <a:ext cx="219456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83680" y="1371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931"/>
                </a:solidFill>
              </a:rPr>
              <a:t>Update File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83680" y="2286000"/>
            <a:ext cx="219456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583680" y="2286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931"/>
                </a:solidFill>
              </a:rPr>
              <a:t>Display Result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583680" y="3200400"/>
            <a:ext cx="2194560" cy="548640"/>
          </a:xfrm>
          <a:prstGeom prst="roundRect">
            <a:avLst>
              <a:gd name="adj" fmla="val 20000"/>
            </a:avLst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83680" y="3200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EXIT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C947"/>
          </a:solidFill>
          <a:ln w="12700">
            <a:solidFill>
              <a:srgbClr val="FFC9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9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2286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C++ Code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274320" y="1051560"/>
            <a:ext cx="8595360" cy="384048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274320" y="1051560"/>
            <a:ext cx="8595360" cy="3200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main.cpp  —  Bank Management System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  #include &lt;fstream&gt;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7200" y="1664208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5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7200" y="2157984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57200" y="2404872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5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pin = 1234, enteredPin;  float balance = 1000, amount;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57200" y="2651760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5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"Enter PIN: ";  cin &gt;&gt; enteredPin;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57200" y="2898648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F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(enteredPin != pin) { cout &lt;&lt; "Invalid PIN!"; return 0; }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57200" y="3145536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switch(choice) {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57200" y="3392424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1: balance += amount;  break;   // Deposit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57200" y="3639312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2: if(amount &lt;= balance) balance -= amount;  break; // Withdraw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57200" y="3886200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3: cout &lt;&lt; "Balance: " &lt;&lt; balance;  break;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57200" y="4133088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C9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 ofstream file("bank.txt");  file &lt;&lt; balance;  file.close();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57200" y="4379976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&amp; Test Cases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28016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280160"/>
            <a:ext cx="2743200" cy="502920"/>
          </a:xfrm>
          <a:prstGeom prst="rect">
            <a:avLst/>
          </a:prstGeom>
          <a:solidFill>
            <a:srgbClr val="185ADB"/>
          </a:solidFill>
          <a:ln w="12700">
            <a:solidFill>
              <a:srgbClr val="185A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2801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TC-01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874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Operation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423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5ADB"/>
                </a:solidFill>
              </a:rPr>
              <a:t>INPUT: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697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PIN: Correct  |  Op: Deposit ₹500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340156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76A"/>
                </a:solidFill>
              </a:rPr>
              <a:t>OUTPUT: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37033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updated successfully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4434840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0EA76A"/>
          </a:solidFill>
          <a:ln w="12700">
            <a:solidFill>
              <a:srgbClr val="0EA7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434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 PASS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28016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280160"/>
            <a:ext cx="2743200" cy="502920"/>
          </a:xfrm>
          <a:prstGeom prst="rect">
            <a:avLst/>
          </a:prstGeom>
          <a:solidFill>
            <a:srgbClr val="185ADB"/>
          </a:solidFill>
          <a:ln w="12700">
            <a:solidFill>
              <a:srgbClr val="185A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2801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TC-02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91840" y="1874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Withdrawal Operation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2423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5ADB"/>
                </a:solidFill>
              </a:rPr>
              <a:t>INPUT: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91840" y="2697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PIN: Correct  |  Op: Withdraw ₹200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340156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76A"/>
                </a:solidFill>
              </a:rPr>
              <a:t>OUTPUT: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91840" y="37033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reduced by ₹200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749040" y="4434840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0EA76A"/>
          </a:solidFill>
          <a:ln w="12700">
            <a:solidFill>
              <a:srgbClr val="0EA7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4434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 PASS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128016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1280160"/>
            <a:ext cx="2743200" cy="5029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12801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TC-03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1874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PIN Attempt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2423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5ADB"/>
                </a:solidFill>
              </a:rPr>
              <a:t>INPUT: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2697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PIN: Incorrect (e.g. 0000)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340156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</a:rPr>
              <a:t>OUTPUT: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63640" y="37033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Denied — system exits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720840" y="4434840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0840" y="4434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✗  DENIED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C947"/>
          </a:solidFill>
          <a:ln w="12700">
            <a:solidFill>
              <a:srgbClr val="FFC9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9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C947"/>
          </a:solidFill>
          <a:ln w="12700">
            <a:solidFill>
              <a:srgbClr val="FFC94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365760" y="1234440"/>
            <a:ext cx="4069080" cy="1417320"/>
          </a:xfrm>
          <a:prstGeom prst="rect">
            <a:avLst/>
          </a:prstGeom>
          <a:solidFill>
            <a:srgbClr val="1A2E52"/>
          </a:solidFill>
          <a:ln w="12700">
            <a:solidFill>
              <a:srgbClr val="2A3F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🏦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97280" y="1371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core banking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97280" y="175564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deposit, withdrawal, and balance check with validation logic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234440"/>
            <a:ext cx="4069080" cy="1417320"/>
          </a:xfrm>
          <a:prstGeom prst="rect">
            <a:avLst/>
          </a:prstGeom>
          <a:solidFill>
            <a:srgbClr val="1A2E52"/>
          </a:solidFill>
          <a:ln w="12700">
            <a:solidFill>
              <a:srgbClr val="2A3F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4632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86400" y="1371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use of C++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0" y="175564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Showcases control structures, file I/O, functions &amp; conditionals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" y="2880360"/>
            <a:ext cx="4069080" cy="1417320"/>
          </a:xfrm>
          <a:prstGeom prst="rect">
            <a:avLst/>
          </a:prstGeom>
          <a:solidFill>
            <a:srgbClr val="1A2E52"/>
          </a:solidFill>
          <a:ln w="12700">
            <a:solidFill>
              <a:srgbClr val="2A3F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5720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9728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PIN security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97280" y="340156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PIN-based authentication ensures only authorised access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0" y="2880360"/>
            <a:ext cx="4069080" cy="1417320"/>
          </a:xfrm>
          <a:prstGeom prst="rect">
            <a:avLst/>
          </a:prstGeom>
          <a:solidFill>
            <a:srgbClr val="1A2E52"/>
          </a:solidFill>
          <a:ln w="12700">
            <a:solidFill>
              <a:srgbClr val="2A3F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84632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48640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relevance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0" y="340156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academia and industry by simulating live banking logic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286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2286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274320" y="1188720"/>
            <a:ext cx="8595360" cy="640080"/>
          </a:xfrm>
          <a:prstGeom prst="rect">
            <a:avLst/>
          </a:prstGeom>
          <a:solidFill>
            <a:srgbClr val="1A2E52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11887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05840" y="1234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Interface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" y="150876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graphical UI with Qt or WinForms for better UX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772400" y="1353312"/>
            <a:ext cx="1005840" cy="320040"/>
          </a:xfrm>
          <a:prstGeom prst="roundRect">
            <a:avLst>
              <a:gd name="adj" fmla="val 22857"/>
            </a:avLst>
          </a:prstGeom>
          <a:solidFill>
            <a:srgbClr val="0EA76A"/>
          </a:solidFill>
          <a:ln w="12700">
            <a:solidFill>
              <a:srgbClr val="0EA76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0" y="135331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Planned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74320" y="1956816"/>
            <a:ext cx="8595360" cy="640080"/>
          </a:xfrm>
          <a:prstGeom prst="rect">
            <a:avLst/>
          </a:prstGeom>
          <a:solidFill>
            <a:srgbClr val="1A2E52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1956816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05840" y="200253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05840" y="227685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flat files with a relational database backend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772400" y="2121408"/>
            <a:ext cx="1005840" cy="320040"/>
          </a:xfrm>
          <a:prstGeom prst="roundRect">
            <a:avLst>
              <a:gd name="adj" fmla="val 22857"/>
            </a:avLst>
          </a:prstGeom>
          <a:solidFill>
            <a:srgbClr val="0EA76A"/>
          </a:solidFill>
          <a:ln w="12700">
            <a:solidFill>
              <a:srgbClr val="0EA76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0" y="212140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Planned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2724912"/>
            <a:ext cx="8595360" cy="640080"/>
          </a:xfrm>
          <a:prstGeom prst="rect">
            <a:avLst/>
          </a:prstGeom>
          <a:solidFill>
            <a:srgbClr val="1A2E52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272491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005840" y="27706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Banking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05840" y="304495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web layer for internet-based transactions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772400" y="2889504"/>
            <a:ext cx="1005840" cy="320040"/>
          </a:xfrm>
          <a:prstGeom prst="roundRect">
            <a:avLst>
              <a:gd name="adj" fmla="val 22857"/>
            </a:avLst>
          </a:prstGeom>
          <a:solidFill>
            <a:srgbClr val="185ADB"/>
          </a:solidFill>
          <a:ln w="12700">
            <a:solidFill>
              <a:srgbClr val="185AD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0" y="288950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Future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74320" y="3493008"/>
            <a:ext cx="8595360" cy="640080"/>
          </a:xfrm>
          <a:prstGeom prst="rect">
            <a:avLst/>
          </a:prstGeom>
          <a:solidFill>
            <a:srgbClr val="1A2E52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3493008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005840" y="35387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Login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05840" y="381304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multiple accounts with unique user IDs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772400" y="3657600"/>
            <a:ext cx="1005840" cy="320040"/>
          </a:xfrm>
          <a:prstGeom prst="roundRect">
            <a:avLst>
              <a:gd name="adj" fmla="val 22857"/>
            </a:avLst>
          </a:prstGeom>
          <a:solidFill>
            <a:srgbClr val="185ADB"/>
          </a:solidFill>
          <a:ln w="12700">
            <a:solidFill>
              <a:srgbClr val="185AD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772400" y="36576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Future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274320" y="4261104"/>
            <a:ext cx="8595360" cy="640080"/>
          </a:xfrm>
          <a:prstGeom prst="rect">
            <a:avLst/>
          </a:prstGeom>
          <a:solidFill>
            <a:srgbClr val="1A2E52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65760" y="4261104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1005840" y="430682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&amp; Encryption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005840" y="458114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security with one-time passwords &amp; AES encryption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772400" y="4425696"/>
            <a:ext cx="1005840" cy="320040"/>
          </a:xfrm>
          <a:prstGeom prst="roundRect">
            <a:avLst>
              <a:gd name="adj" fmla="val 22857"/>
            </a:avLst>
          </a:prstGeom>
          <a:solidFill>
            <a:srgbClr val="FFC947"/>
          </a:solidFill>
          <a:ln w="12700">
            <a:solidFill>
              <a:srgbClr val="FFC94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772400" y="442569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931"/>
                </a:solidFill>
              </a:rPr>
              <a:t>Advanced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2"/>
                </a:solidFill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Management System</dc:title>
  <dc:subject>PptxGenJS Presentation</dc:subject>
  <dc:creator>PptxGenJS</dc:creator>
  <cp:lastModifiedBy>PptxGenJS</cp:lastModifiedBy>
  <cp:revision>1</cp:revision>
  <dcterms:created xsi:type="dcterms:W3CDTF">2026-04-25T09:54:09Z</dcterms:created>
  <dcterms:modified xsi:type="dcterms:W3CDTF">2026-04-25T09:54:09Z</dcterms:modified>
</cp:coreProperties>
</file>